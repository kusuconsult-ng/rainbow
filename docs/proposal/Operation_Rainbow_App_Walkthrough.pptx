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d1c97f6-08e5-5401-9a63-16cf96514010}">
          <p14:sldIdLst>
            <p14:sldId id="256"/>
            <p14:sldId id="257"/>
          </p14:sldIdLst>
        </p14:section>
        <p14:section name="The mobile app" id="{677d0ff7-d50a-d8a3-2183-cc36e190f17a}">
          <p14:sldIdLst>
            <p14:sldId id="258"/>
            <p14:sldId id="259"/>
            <p14:sldId id="260"/>
            <p14:sldId id="261"/>
            <p14:sldId id="262"/>
            <p14:sldId id="263"/>
            <p14:sldId id="264"/>
            <p14:sldId id="265"/>
          </p14:sldIdLst>
        </p14:section>
        <p14:section name="The HQ console" id="{3d5dae19-6cc6-a575-5219-e0d3117236c2}">
          <p14:sldIdLst>
            <p14:sldId id="266"/>
            <p14:sldId id="267"/>
            <p14:sldId id="268"/>
            <p14:sldId id="269"/>
            <p14:sldId id="270"/>
            <p14:sldId id="271"/>
            <p14:sldId id="272"/>
            <p14:sldId id="273"/>
            <p14:sldId id="274"/>
          </p14:sldIdLst>
        </p14:section>
        <p14:section name="Administration" id="{548c3ece-4c17-36ef-1b67-8add6a0843e3}">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 Rainbow is the emergency security response system for Plateau State. This walkthrough follows the system in the order people meet it: a citizen signing up and raising an alarm, HQ receiving and acting on it, and the administrators who run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has three parts that share one backend. The mobile app is used by citizens and by field responders. The HQ console is the operations board. The backend holds the data, enforces who can see what, and keeps the alerts flowing even when mobile data is down, through SMS, USSD and a Bluetooth mesh between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follows a citizen through the mobile app: sign-in, onboarding, the SOS button, reporting, safety tools and what happens when there is no data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screen is sign-in. Citizens use their phone number and a one-time code by SMS; there is no password. Staff accounts use the access code HQ provisions for them. If the SMS service is not available, the app tells the person it is a service problem, not their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has three steps. Step one asks for the phone permissions the app needs. Step two, shown left, captures the person's identity and their local government area, which ties them to a polling unit so the nearest command level sees their alerts first. Step three, shown right, records trusted contacts who are told automatically when this person raises an emergency.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screen shows the system status and the SOS button. Pressing it sends an alert with the person's live location to HQ. Holding it raises a silent alarm. The duress PIN is the key safety feature: if someone is forced to cancel, a different PIN makes the alarm look cancelled on the phone while HQ keeps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report starts with two choices. First the category, such as kidnap, fire, drug abuse or flood. Then the specific incident type within it. HQ uses these to route the report and to filter the board, and the phone's location is attached without the person typing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a report collects the detail: a written description, optional photos and video, the location from GPS or typed in by hand, and stealth mode for people who need to report without being identified. Initiate Transmission sends it to HQ.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safety tools sit alongside reporting. Safe-zone routing shows secured locations and guides the person to the nearest one. Movement tracking streams their position to HQ and lets them share a live link with people they trust, or pause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Emergencies often happen where data coverage is poor. The system has three fallbacks. The app sends an encrypted SMS when data is down. Any phone, including one without the app, can use the USSD menu on all four networks. And the Bluetooth mesh lets nearby phones pass a sealed alert along until one has signal; the phones in between cannot read it. Alerts that arrive this way are marked on the HQ board so operators know which channel they came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moves to the HQ command console, the web application used by the operations room, command levels and partner agencies.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uses the same sign-in page. What they see afterwards depends on their role, and the database enforces it, not just the screen. HQ command sees the whole state and the administration tools. LGA and ward commanders see their own area. An agency liaison, for example from the Army or Police, sees only the incidents escalated to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intelligence map shows the 17 LGAs of Plateau State with every open incident pinned. Operators can filter down to a single polling unit. The forecasting panel highlights hotspots. On the right, the situational feed lists the latest alerts; an alert without a GPS fix is clearly marked as not on the map, rather than being placed at a guessed location. The banner across the top is a statewide advisory issued from the broadcast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 pin opens the incident card: the command tier handling it, who it is assigned to, who reported it, the channel it came through and its coordinates. From the card an operator can open the full dossier, dispatch responders, resolve it or call the reporter. The whole console also has a dark theme for night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incident feed is the working list. Every open incident is a card showing its type, the reporter, where it is down to the polling unit, and an AI triage button that suggests category and priority; if the AI service is switched off, a rule-based engine is used instead. Operators can filter by status, category, LGA and tier, and act on each card with Escalate, Dispatch or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dossier shows the full record: operational details, exact location down to the polling unit, the original report, a live video panel that connects when a field unit starts streaming, the reporter's profile and the resolution log. The dispatcher can reply to the reporter from here, and each reply is recorded under the operator's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respond. Dispatch opens a picker of tactical responders, showing who has a live GPS signal and who is ready; the operator ticks one or more and confirms. Escalate hands the incident to a partner agency: the Nigeria Police Force, the Army, DSS, NSCDC, FRSC or Operation Safe Haven, with the area it covers and written directions. The agency's liaison is notified and the handover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broadcast tool sends public safety advisories by push and SMS. HQ sets the severity, the audience (citizens, security units or both), the agency and how long the advisory stands, then targets it statewide or down to one polling unit. Templates cover the common cases: a public safety alert, a tactical advisory, an all-clear and an emergency refuge notice. A critical advisory also appears as the red banner across every console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 agencies get their own portal inside the console. A liaison officer, here from the Nigerian Army, sees only incidents HQ has escalated to their agency. They keep their personnel list current, deploy officers to an incident, and file action reports such as situation reports with an outcome and casualty count. HQ sees the reports arrive and acknowledges them, so both sides know the handover was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covers the administration tools. They sit in their own section of the console menu and appear only for HQ command accounts: the agent directory, forensic audit, system logic, uninstall requests and the handset SMS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directory is where HQ creates accounts for officers, commanders, responders and agency liaisons. The administrator chooses the command role and the agency, and the server sets the role, so no one can sign up and grant themselves access. Below the form is the multi-agency personnel directory showing everyone's role, sector and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Logic holds the escalation timeouts: by default a polling unit has 2 minutes, a ward 5 and an LGA 10 before an unhandled alert moves up the chain. These run on the server, so an alert still moves up if a commander's console is offline. Uninstall Requests is where HQ approves or denies a request to remove the app, with the reason given. Two further admin screens are not shown here: the Forensic Audit trail of who did what, and the Handset SMS Channel, which lists phones whose SIM card was removed or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the walkthrough together. An alert starts with a citizen and lands first at their polling unit. If the polling unit does not act within 2 minutes it moves to the ward, then after 5 minutes to the LGA, then after 10 minutes to HQ. HQ can step in at any point. The response comes from dispatched responders or a partner agency, who report back. The escalation runs on the server, so it still happens if a commander's device is offline, and every step is timestamped.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Operation Rainbow covers all 17 LGAs of Plateau State, connects HQ with six partner agencies, offers three ways to reach HQ when there is no data, and works on USSD across all four Nigerian mobile networks.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HONE">
    <p:bg>
      <p:bgPr>
        <a:solidFill>
          <a:srgbClr val="F6F3EF"/>
        </a:solidFill>
      </p:bgPr>
    </p:bg>
    <p:spTree>
      <p:nvGrpSpPr>
        <p:cNvPr id="1" name=""/>
        <p:cNvGrpSpPr/>
        <p:nvPr/>
      </p:nvGrpSpPr>
      <p:grpSpPr>
        <a:xfrm>
          <a:off x="0" y="0"/>
          <a:ext cx="0" cy="0"/>
          <a:chOff x="0" y="0"/>
          <a:chExt cx="0" cy="0"/>
        </a:xfrm>
      </p:grpSpPr>
      <p:sp>
        <p:nvSpPr>
          <p:cNvPr id="2" name="Text 0"/>
          <p:cNvSpPr/>
          <p:nvPr/>
        </p:nvSpPr>
        <p:spPr>
          <a:xfrm>
            <a:off x="812800" y="6210300"/>
            <a:ext cx="5715000" cy="254000"/>
          </a:xfrm>
          <a:prstGeom prst="rect">
            <a:avLst/>
          </a:prstGeom>
          <a:noFill/>
          <a:ln/>
        </p:spPr>
        <p:txBody>
          <a:bodyPr wrap="square" lIns="0" tIns="0" rIns="0" bIns="0" rtlCol="0" anchor="ctr"/>
          <a:lstStyle/>
          <a:p>
            <a:pPr indent="0" marL="0">
              <a:buNone/>
            </a:pPr>
            <a:r>
              <a:rPr lang="en-US" sz="1200" dirty="0">
                <a:solidFill>
                  <a:srgbClr val="5A5F67"/>
                </a:solidFill>
                <a:latin typeface="Arial" pitchFamily="34" charset="0"/>
                <a:ea typeface="Arial" pitchFamily="34" charset="-122"/>
                <a:cs typeface="Arial" pitchFamily="34" charset="-120"/>
              </a:rPr>
              <a:t>Operation Rainbow · App walkthrough</a:t>
            </a:r>
            <a:endParaRPr lang="en-US" sz="1200" dirty="0"/>
          </a:p>
        </p:txBody>
      </p:sp>
      <p:sp>
        <p:nvSpPr>
          <p:cNvPr id="3" name="Text 1"/>
          <p:cNvSpPr/>
          <p:nvPr>
            <p:ph idx="101" type="title" hasCustomPrompt="1"/>
          </p:nvPr>
        </p:nvSpPr>
        <p:spPr>
          <a:xfrm>
            <a:off x="812800" y="1117600"/>
            <a:ext cx="5588000" cy="1016000"/>
          </a:xfrm>
          <a:prstGeom prst="rect">
            <a:avLst/>
          </a:prstGeom>
          <a:noFill/>
          <a:ln/>
        </p:spPr>
        <p:txBody>
          <a:bodyPr wrap="square" rtlCol="0"/>
          <a:lstStyle>
            <a:lvl1pPr algn="l" indent="0" marL="0">
              <a:buNone/>
              <a:defRPr lang="en-US" sz="3200" b="1" dirty="0">
                <a:solidFill>
                  <a:srgbClr val="1B1D2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IDE_ALT">
    <p:bg>
      <p:bgPr>
        <a:solidFill>
          <a:srgbClr val="ECE7E1"/>
        </a:solidFill>
      </p:bgPr>
    </p:bg>
    <p:spTree>
      <p:nvGrpSpPr>
        <p:cNvPr id="1" name=""/>
        <p:cNvGrpSpPr/>
        <p:nvPr/>
      </p:nvGrpSpPr>
      <p:grpSpPr>
        <a:xfrm>
          <a:off x="0" y="0"/>
          <a:ext cx="0" cy="0"/>
          <a:chOff x="0" y="0"/>
          <a:chExt cx="0" cy="0"/>
        </a:xfrm>
      </p:grpSpPr>
      <p:sp>
        <p:nvSpPr>
          <p:cNvPr id="2" name="Text 0"/>
          <p:cNvSpPr/>
          <p:nvPr/>
        </p:nvSpPr>
        <p:spPr>
          <a:xfrm>
            <a:off x="812800" y="6210300"/>
            <a:ext cx="5715000" cy="254000"/>
          </a:xfrm>
          <a:prstGeom prst="rect">
            <a:avLst/>
          </a:prstGeom>
          <a:noFill/>
          <a:ln/>
        </p:spPr>
        <p:txBody>
          <a:bodyPr wrap="square" lIns="0" tIns="0" rIns="0" bIns="0" rtlCol="0" anchor="ctr"/>
          <a:lstStyle/>
          <a:p>
            <a:pPr indent="0" marL="0">
              <a:buNone/>
            </a:pPr>
            <a:r>
              <a:rPr lang="en-US" sz="1200" dirty="0">
                <a:solidFill>
                  <a:srgbClr val="5A5F67"/>
                </a:solidFill>
                <a:latin typeface="Arial" pitchFamily="34" charset="0"/>
                <a:ea typeface="Arial" pitchFamily="34" charset="-122"/>
                <a:cs typeface="Arial" pitchFamily="34" charset="-120"/>
              </a:rPr>
              <a:t>Operation Rainbow · App walkthrough</a:t>
            </a:r>
            <a:endParaRPr lang="en-US" sz="1200" dirty="0"/>
          </a:p>
        </p:txBody>
      </p:sp>
      <p:sp>
        <p:nvSpPr>
          <p:cNvPr id="3" name="Text 1"/>
          <p:cNvSpPr/>
          <p:nvPr>
            <p:ph idx="101" type="title" hasCustomPrompt="1"/>
          </p:nvPr>
        </p:nvSpPr>
        <p:spPr>
          <a:xfrm>
            <a:off x="812800" y="1117600"/>
            <a:ext cx="10566400" cy="508000"/>
          </a:xfrm>
          <a:prstGeom prst="rect">
            <a:avLst/>
          </a:prstGeom>
          <a:noFill/>
          <a:ln/>
        </p:spPr>
        <p:txBody>
          <a:bodyPr wrap="square" rtlCol="0"/>
          <a:lstStyle>
            <a:lvl1pPr algn="l" indent="0" marL="0">
              <a:buNone/>
              <a:defRPr lang="en-US" sz="3200" b="1" dirty="0">
                <a:solidFill>
                  <a:srgbClr val="1B1D2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IDE_LIGHT">
    <p:bg>
      <p:bgPr>
        <a:solidFill>
          <a:srgbClr val="F6F3EF"/>
        </a:solidFill>
      </p:bgPr>
    </p:bg>
    <p:spTree>
      <p:nvGrpSpPr>
        <p:cNvPr id="1" name=""/>
        <p:cNvGrpSpPr/>
        <p:nvPr/>
      </p:nvGrpSpPr>
      <p:grpSpPr>
        <a:xfrm>
          <a:off x="0" y="0"/>
          <a:ext cx="0" cy="0"/>
          <a:chOff x="0" y="0"/>
          <a:chExt cx="0" cy="0"/>
        </a:xfrm>
      </p:grpSpPr>
      <p:sp>
        <p:nvSpPr>
          <p:cNvPr id="2" name="Text 0"/>
          <p:cNvSpPr/>
          <p:nvPr/>
        </p:nvSpPr>
        <p:spPr>
          <a:xfrm>
            <a:off x="812800" y="6210300"/>
            <a:ext cx="5715000" cy="254000"/>
          </a:xfrm>
          <a:prstGeom prst="rect">
            <a:avLst/>
          </a:prstGeom>
          <a:noFill/>
          <a:ln/>
        </p:spPr>
        <p:txBody>
          <a:bodyPr wrap="square" lIns="0" tIns="0" rIns="0" bIns="0" rtlCol="0" anchor="ctr"/>
          <a:lstStyle/>
          <a:p>
            <a:pPr indent="0" marL="0">
              <a:buNone/>
            </a:pPr>
            <a:r>
              <a:rPr lang="en-US" sz="1200" dirty="0">
                <a:solidFill>
                  <a:srgbClr val="5A5F67"/>
                </a:solidFill>
                <a:latin typeface="Arial" pitchFamily="34" charset="0"/>
                <a:ea typeface="Arial" pitchFamily="34" charset="-122"/>
                <a:cs typeface="Arial" pitchFamily="34" charset="-120"/>
              </a:rPr>
              <a:t>Operation Rainbow · App walkthrough</a:t>
            </a:r>
            <a:endParaRPr lang="en-US" sz="1200" dirty="0"/>
          </a:p>
        </p:txBody>
      </p:sp>
      <p:sp>
        <p:nvSpPr>
          <p:cNvPr id="3" name="Text 1"/>
          <p:cNvSpPr/>
          <p:nvPr>
            <p:ph idx="101" type="title" hasCustomPrompt="1"/>
          </p:nvPr>
        </p:nvSpPr>
        <p:spPr>
          <a:xfrm>
            <a:off x="812800" y="1117600"/>
            <a:ext cx="10566400" cy="508000"/>
          </a:xfrm>
          <a:prstGeom prst="rect">
            <a:avLst/>
          </a:prstGeom>
          <a:noFill/>
          <a:ln/>
        </p:spPr>
        <p:txBody>
          <a:bodyPr wrap="square" rtlCol="0"/>
          <a:lstStyle>
            <a:lvl1pPr algn="l" indent="0" marL="0">
              <a:buNone/>
              <a:defRPr lang="en-US" sz="3200" b="1" dirty="0">
                <a:solidFill>
                  <a:srgbClr val="1B1D2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IDE_DARK">
    <p:bg>
      <p:bgPr>
        <a:solidFill>
          <a:srgbClr val="1B1D22"/>
        </a:solidFill>
      </p:bgPr>
    </p:bg>
    <p:spTree>
      <p:nvGrpSpPr>
        <p:cNvPr id="1" name=""/>
        <p:cNvGrpSpPr/>
        <p:nvPr/>
      </p:nvGrpSpPr>
      <p:grpSpPr>
        <a:xfrm>
          <a:off x="0" y="0"/>
          <a:ext cx="0" cy="0"/>
          <a:chOff x="0" y="0"/>
          <a:chExt cx="0" cy="0"/>
        </a:xfrm>
      </p:grpSpPr>
      <p:sp>
        <p:nvSpPr>
          <p:cNvPr id="2" name="Text 0"/>
          <p:cNvSpPr/>
          <p:nvPr/>
        </p:nvSpPr>
        <p:spPr>
          <a:xfrm>
            <a:off x="812800" y="6210300"/>
            <a:ext cx="5715000" cy="254000"/>
          </a:xfrm>
          <a:prstGeom prst="rect">
            <a:avLst/>
          </a:prstGeom>
          <a:noFill/>
          <a:ln/>
        </p:spPr>
        <p:txBody>
          <a:bodyPr wrap="square" lIns="0" tIns="0" rIns="0" bIns="0" rtlCol="0" anchor="ctr"/>
          <a:lstStyle/>
          <a:p>
            <a:pPr indent="0" marL="0">
              <a:buNone/>
            </a:pPr>
            <a:r>
              <a:rPr lang="en-US" sz="1200" dirty="0">
                <a:solidFill>
                  <a:srgbClr val="A7A29B"/>
                </a:solidFill>
                <a:latin typeface="Arial" pitchFamily="34" charset="0"/>
                <a:ea typeface="Arial" pitchFamily="34" charset="-122"/>
                <a:cs typeface="Arial" pitchFamily="34" charset="-120"/>
              </a:rPr>
              <a:t>Operation Rainbow · App walkthrough</a:t>
            </a:r>
            <a:endParaRPr lang="en-US" sz="1200" dirty="0"/>
          </a:p>
        </p:txBody>
      </p:sp>
      <p:sp>
        <p:nvSpPr>
          <p:cNvPr id="3" name="Text 1"/>
          <p:cNvSpPr/>
          <p:nvPr>
            <p:ph idx="101" type="title" hasCustomPrompt="1"/>
          </p:nvPr>
        </p:nvSpPr>
        <p:spPr>
          <a:xfrm>
            <a:off x="812800" y="1117600"/>
            <a:ext cx="10566400" cy="1016000"/>
          </a:xfrm>
          <a:prstGeom prst="rect">
            <a:avLst/>
          </a:prstGeom>
          <a:noFill/>
          <a:ln/>
        </p:spPr>
        <p:txBody>
          <a:bodyPr wrap="square" rtlCol="0"/>
          <a:lstStyle>
            <a:lvl1pPr algn="l" indent="0" marL="0">
              <a:buNone/>
              <a:defRPr lang="en-US" sz="3200" b="1" dirty="0">
                <a:solidFill>
                  <a:srgbClr val="F6F3EF"/>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A7A29B"/>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p:bg>
      <p:bgPr>
        <a:solidFill>
          <a:srgbClr val="C21F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2540000"/>
            <a:ext cx="10566400" cy="952500"/>
          </a:xfrm>
          <a:prstGeom prst="rect">
            <a:avLst/>
          </a:prstGeom>
          <a:noFill/>
          <a:ln/>
        </p:spPr>
        <p:txBody>
          <a:bodyPr wrap="square" rtlCol="0"/>
          <a:lstStyle>
            <a:lvl1pPr algn="l" indent="0" marL="0">
              <a:buNone/>
              <a:defRPr lang="en-US" sz="6000" b="1" dirty="0">
                <a:solidFill>
                  <a:srgbClr val="FBF7F3"/>
                </a:solidFill>
                <a:latin typeface="Arial" pitchFamily="34" charset="0"/>
                <a:ea typeface="Arial" pitchFamily="34" charset="-122"/>
                <a:cs typeface="Arial" pitchFamily="34" charset="-120"/>
              </a:defRPr>
            </a:lvl1pPr>
          </a:lstStyle>
          <a:p>
            <a:pPr algn="l" indent="0" marL="0">
              <a:buNone/>
            </a:pPr>
            <a:endParaRPr lang="en-US" sz="60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p:bg>
      <p:bgPr>
        <a:solidFill>
          <a:srgbClr val="1B1D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2984500"/>
            <a:ext cx="4572000" cy="1524000"/>
          </a:xfrm>
          <a:prstGeom prst="rect">
            <a:avLst/>
          </a:prstGeom>
          <a:noFill/>
          <a:ln/>
        </p:spPr>
        <p:txBody>
          <a:bodyPr wrap="square" rtlCol="0"/>
          <a:lstStyle>
            <a:lvl1pPr algn="l" indent="0" marL="0">
              <a:buNone/>
              <a:defRPr lang="en-US" sz="5000" b="1" dirty="0">
                <a:solidFill>
                  <a:srgbClr val="F6F3EF"/>
                </a:solidFill>
                <a:latin typeface="Arial" pitchFamily="34" charset="0"/>
                <a:ea typeface="Arial" pitchFamily="34" charset="-122"/>
                <a:cs typeface="Arial" pitchFamily="34" charset="-120"/>
              </a:defRPr>
            </a:lvl1pPr>
          </a:lstStyle>
          <a:p>
            <a:pPr algn="l" indent="0" marL="0">
              <a:buNone/>
            </a:pPr>
            <a:endParaRPr lang="en-US" sz="50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E">
    <p:bg>
      <p:bgPr>
        <a:solidFill>
          <a:srgbClr val="1B1D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905000"/>
            <a:ext cx="9525000" cy="1397000"/>
          </a:xfrm>
          <a:prstGeom prst="rect">
            <a:avLst/>
          </a:prstGeom>
          <a:noFill/>
          <a:ln/>
        </p:spPr>
        <p:txBody>
          <a:bodyPr wrap="square" rtlCol="0"/>
          <a:lstStyle>
            <a:lvl1pPr algn="l" indent="0" marL="0">
              <a:buNone/>
              <a:defRPr lang="en-US" sz="4800" b="1" dirty="0">
                <a:solidFill>
                  <a:srgbClr val="F6F3EF"/>
                </a:solidFill>
                <a:latin typeface="Arial" pitchFamily="34" charset="0"/>
                <a:ea typeface="Arial" pitchFamily="34" charset="-122"/>
                <a:cs typeface="Arial" pitchFamily="34" charset="-120"/>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7.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812800" y="1079500"/>
            <a:ext cx="1066800" cy="1066800"/>
          </a:xfrm>
          <a:prstGeom prst="roundRect">
            <a:avLst>
              <a:gd name="adj" fmla="val 17143"/>
            </a:avLst>
          </a:prstGeom>
          <a:solidFill>
            <a:srgbClr val="F6F3EF"/>
          </a:solidFill>
          <a:ln w="12700">
            <a:solidFill>
              <a:srgbClr val="F6F3EF"/>
            </a:solidFill>
            <a:prstDash val="solid"/>
          </a:ln>
        </p:spPr>
      </p:sp>
      <p:pic>
        <p:nvPicPr>
          <p:cNvPr id="4" name="Image 0" descr="Operation Rainbow logo">    </p:cNvPr>
          <p:cNvPicPr>
            <a:picLocks noChangeAspect="1"/>
          </p:cNvPicPr>
          <p:nvPr/>
        </p:nvPicPr>
        <p:blipFill>
          <a:blip r:embed="rId1"/>
          <a:srcRect l="0" r="0" t="0" b="0"/>
          <a:stretch/>
        </p:blipFill>
        <p:spPr>
          <a:xfrm>
            <a:off x="901700" y="1168400"/>
            <a:ext cx="889000" cy="889000"/>
          </a:xfrm>
          <a:prstGeom prst="rect">
            <a:avLst/>
          </a:prstGeom>
        </p:spPr>
      </p:pic>
      <p:sp>
        <p:nvSpPr>
          <p:cNvPr id="5" name="Text 1"/>
          <p:cNvSpPr txBox="1"/>
          <p:nvPr/>
        </p:nvSpPr>
        <p:spPr>
          <a:xfrm>
            <a:off x="812800" y="2603500"/>
            <a:ext cx="4699000" cy="254000"/>
          </a:xfrm>
          <a:prstGeom prst="rect">
            <a:avLst/>
          </a:prstGeom>
          <a:noFill/>
          <a:ln/>
        </p:spPr>
        <p:txBody>
          <a:bodyPr wrap="square" lIns="0" tIns="0" rIns="0" bIns="0" rtlCol="0" anchor="t"/>
          <a:lstStyle/>
          <a:p>
            <a:pPr indent="0" marL="0">
              <a:buNone/>
            </a:pPr>
            <a:r>
              <a:rPr lang="en-US" sz="1200" b="1" spc="200" kern="0" dirty="0">
                <a:solidFill>
                  <a:srgbClr val="F07A7F"/>
                </a:solidFill>
                <a:latin typeface="Arial" pitchFamily="34" charset="0"/>
                <a:ea typeface="Arial" pitchFamily="34" charset="-122"/>
                <a:cs typeface="Arial" pitchFamily="34" charset="-120"/>
              </a:rPr>
              <a:t>PLATEAU STATE EMERGENCY RESPONSE</a:t>
            </a:r>
            <a:endParaRPr lang="en-US" sz="1200" dirty="0"/>
          </a:p>
        </p:txBody>
      </p:sp>
      <p:sp>
        <p:nvSpPr>
          <p:cNvPr id="6" name="Text 0"/>
          <p:cNvSpPr/>
          <p:nvPr>
            <p:ph idx="100" type="title" hasCustomPrompt="1"/>
          </p:nvPr>
        </p:nvSpPr>
        <p:spPr>
          <a:xfrm>
            <a:off x="812800" y="2984500"/>
            <a:ext cx="4572000" cy="1524000"/>
          </a:xfrm>
          <a:prstGeom prst="rect">
            <a:avLst/>
          </a:prstGeom>
          <a:noFill/>
          <a:ln/>
        </p:spPr>
        <p:txBody>
          <a:bodyPr wrap="square" lIns="0" tIns="0" rIns="0" bIns="0" rtlCol="0" anchor="t"/>
          <a:lstStyle/>
          <a:p>
            <a:pPr algn="l" indent="0" marL="0">
              <a:buNone/>
            </a:pPr>
            <a:r>
              <a:rPr lang="en-US" sz="5000" b="1" dirty="0">
                <a:solidFill>
                  <a:srgbClr val="F6F3EF"/>
                </a:solidFill>
                <a:latin typeface="Arial" pitchFamily="34" charset="0"/>
                <a:ea typeface="Arial" pitchFamily="34" charset="-122"/>
                <a:cs typeface="Arial" pitchFamily="34" charset="-120"/>
              </a:rPr>
              <a:t>Operation Rainbow</a:t>
            </a:r>
            <a:endParaRPr lang="en-US" sz="5000" dirty="0"/>
          </a:p>
        </p:txBody>
      </p:sp>
      <p:sp>
        <p:nvSpPr>
          <p:cNvPr id="7" name="Text 3"/>
          <p:cNvSpPr txBox="1"/>
          <p:nvPr/>
        </p:nvSpPr>
        <p:spPr>
          <a:xfrm>
            <a:off x="812800" y="4699000"/>
            <a:ext cx="4318000" cy="825500"/>
          </a:xfrm>
          <a:prstGeom prst="rect">
            <a:avLst/>
          </a:prstGeom>
          <a:noFill/>
          <a:ln/>
        </p:spPr>
        <p:txBody>
          <a:bodyPr wrap="square" lIns="0" tIns="0" rIns="0" bIns="0" rtlCol="0" anchor="t"/>
          <a:lstStyle/>
          <a:p>
            <a:pPr indent="0" marL="0">
              <a:lnSpc>
                <a:spcPct val="115000"/>
              </a:lnSpc>
              <a:buNone/>
            </a:pPr>
            <a:r>
              <a:rPr lang="en-US" sz="2200" dirty="0">
                <a:solidFill>
                  <a:srgbClr val="D9D4CD"/>
                </a:solidFill>
                <a:latin typeface="Arial" pitchFamily="34" charset="0"/>
                <a:ea typeface="Arial" pitchFamily="34" charset="-122"/>
                <a:cs typeface="Arial" pitchFamily="34" charset="-120"/>
              </a:rPr>
              <a:t>App walkthrough, from onboarding to administration</a:t>
            </a:r>
            <a:endParaRPr lang="en-US" sz="2200" dirty="0"/>
          </a:p>
        </p:txBody>
      </p:sp>
      <p:sp>
        <p:nvSpPr>
          <p:cNvPr id="8" name="Shape 4"/>
          <p:cNvSpPr/>
          <p:nvPr/>
        </p:nvSpPr>
        <p:spPr>
          <a:xfrm>
            <a:off x="5588000" y="1905000"/>
            <a:ext cx="5080000" cy="3175000"/>
          </a:xfrm>
          <a:prstGeom prst="roundRect">
            <a:avLst>
              <a:gd name="adj" fmla="val 2304"/>
            </a:avLst>
          </a:prstGeom>
          <a:solidFill>
            <a:srgbClr val="FFFFFF"/>
          </a:solidFill>
          <a:ln w="12700">
            <a:solidFill>
              <a:srgbClr val="3A3D45"/>
            </a:solidFill>
            <a:prstDash val="solid"/>
          </a:ln>
        </p:spPr>
      </p:sp>
      <p:pic>
        <p:nvPicPr>
          <p:cNvPr id="9" name="Image 1" descr="HQ console intelligence map of Plateau State">    </p:cNvPr>
          <p:cNvPicPr>
            <a:picLocks noChangeAspect="1"/>
          </p:cNvPicPr>
          <p:nvPr/>
        </p:nvPicPr>
        <p:blipFill>
          <a:blip r:embed="rId2"/>
          <a:stretch>
            <a:fillRect/>
          </a:stretch>
        </p:blipFill>
        <p:spPr>
          <a:xfrm>
            <a:off x="5638800" y="1974850"/>
            <a:ext cx="4978400" cy="3111500"/>
          </a:xfrm>
          <a:prstGeom prst="rect">
            <a:avLst/>
          </a:prstGeom>
        </p:spPr>
      </p:pic>
      <p:sp>
        <p:nvSpPr>
          <p:cNvPr id="10" name="Shape 5"/>
          <p:cNvSpPr/>
          <p:nvPr/>
        </p:nvSpPr>
        <p:spPr>
          <a:xfrm>
            <a:off x="9220200" y="1117600"/>
            <a:ext cx="2095500" cy="4533900"/>
          </a:xfrm>
          <a:prstGeom prst="roundRect">
            <a:avLst>
              <a:gd name="adj" fmla="val 9600"/>
            </a:avLst>
          </a:prstGeom>
          <a:solidFill>
            <a:srgbClr val="FFFFFF"/>
          </a:solidFill>
          <a:ln w="12700">
            <a:solidFill>
              <a:srgbClr val="3A3D45"/>
            </a:solidFill>
            <a:prstDash val="solid"/>
          </a:ln>
          <a:effectLst>
            <a:outerShdw sx="100000" sy="100000" kx="0" ky="0" algn="bl" rotWithShape="0" blurRad="203200" dist="101600" dir="5400000">
              <a:srgbClr val="000000">
                <a:alpha val="45000"/>
              </a:srgbClr>
            </a:outerShdw>
          </a:effectLst>
        </p:spPr>
      </p:sp>
      <p:pic>
        <p:nvPicPr>
          <p:cNvPr id="11" name="Image 2" descr="Mobile app home screen with the SOS button">    </p:cNvPr>
          <p:cNvPicPr>
            <a:picLocks noChangeAspect="1"/>
          </p:cNvPicPr>
          <p:nvPr/>
        </p:nvPicPr>
        <p:blipFill>
          <a:blip r:embed="rId3"/>
          <a:stretch>
            <a:fillRect/>
          </a:stretch>
        </p:blipFill>
        <p:spPr>
          <a:xfrm>
            <a:off x="9271000" y="1231900"/>
            <a:ext cx="1993900" cy="431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THE SYSTEM</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One system, three parts</a:t>
            </a:r>
            <a:endParaRPr lang="en-US" sz="3200" dirty="0"/>
          </a:p>
        </p:txBody>
      </p:sp>
      <p:sp>
        <p:nvSpPr>
          <p:cNvPr id="5" name="Shape 2"/>
          <p:cNvSpPr/>
          <p:nvPr/>
        </p:nvSpPr>
        <p:spPr>
          <a:xfrm>
            <a:off x="812800" y="1905000"/>
            <a:ext cx="3384550" cy="2540000"/>
          </a:xfrm>
          <a:prstGeom prst="roundRect">
            <a:avLst>
              <a:gd name="adj" fmla="val 4320"/>
            </a:avLst>
          </a:prstGeom>
          <a:solidFill>
            <a:srgbClr val="FBF9F6"/>
          </a:solidFill>
          <a:ln w="12700">
            <a:solidFill>
              <a:srgbClr val="D9D2C9"/>
            </a:solidFill>
            <a:prstDash val="solid"/>
          </a:ln>
        </p:spPr>
      </p:sp>
      <p:sp>
        <p:nvSpPr>
          <p:cNvPr id="6" name="Shape 3"/>
          <p:cNvSpPr/>
          <p:nvPr/>
        </p:nvSpPr>
        <p:spPr>
          <a:xfrm>
            <a:off x="1066800" y="2159000"/>
            <a:ext cx="355600" cy="355600"/>
          </a:xfrm>
          <a:prstGeom prst="ellipse">
            <a:avLst/>
          </a:prstGeom>
          <a:solidFill>
            <a:srgbClr val="C21F27"/>
          </a:solidFill>
          <a:ln w="12700">
            <a:solidFill>
              <a:srgbClr val="C21F27"/>
            </a:solidFill>
            <a:prstDash val="solid"/>
          </a:ln>
        </p:spPr>
      </p:sp>
      <p:sp>
        <p:nvSpPr>
          <p:cNvPr id="7" name="Text 4"/>
          <p:cNvSpPr txBox="1"/>
          <p:nvPr/>
        </p:nvSpPr>
        <p:spPr>
          <a:xfrm>
            <a:off x="1066800" y="2159000"/>
            <a:ext cx="355600" cy="355600"/>
          </a:xfrm>
          <a:prstGeom prst="rect">
            <a:avLst/>
          </a:prstGeom>
          <a:noFill/>
          <a:ln/>
        </p:spPr>
        <p:txBody>
          <a:bodyPr wrap="square" lIns="0" tIns="0" rIns="0" bIns="0" rtlCol="0" anchor="ctr"/>
          <a:lstStyle/>
          <a:p>
            <a:pPr algn="ctr" indent="0" marL="0">
              <a:buNone/>
            </a:pPr>
            <a:r>
              <a:rPr lang="en-US" sz="1600" b="1" dirty="0">
                <a:solidFill>
                  <a:srgbClr val="FBF7F3"/>
                </a:solidFill>
                <a:latin typeface="Arial" pitchFamily="34" charset="0"/>
                <a:ea typeface="Arial" pitchFamily="34" charset="-122"/>
                <a:cs typeface="Arial" pitchFamily="34" charset="-120"/>
              </a:rPr>
              <a:t>1</a:t>
            </a:r>
            <a:endParaRPr lang="en-US" sz="1600" dirty="0"/>
          </a:p>
        </p:txBody>
      </p:sp>
      <p:sp>
        <p:nvSpPr>
          <p:cNvPr id="8" name="Text 5"/>
          <p:cNvSpPr txBox="1"/>
          <p:nvPr/>
        </p:nvSpPr>
        <p:spPr>
          <a:xfrm>
            <a:off x="1066800" y="2692400"/>
            <a:ext cx="2876550" cy="317500"/>
          </a:xfrm>
          <a:prstGeom prst="rect">
            <a:avLst/>
          </a:prstGeom>
          <a:noFill/>
          <a:ln/>
        </p:spPr>
        <p:txBody>
          <a:bodyPr wrap="square" lIns="0" tIns="0" rIns="0" bIns="0" rtlCol="0" anchor="t"/>
          <a:lstStyle/>
          <a:p>
            <a:pPr indent="0" marL="0">
              <a:buNone/>
            </a:pPr>
            <a:r>
              <a:rPr lang="en-US" sz="1800" b="1" dirty="0">
                <a:solidFill>
                  <a:srgbClr val="1B1D22"/>
                </a:solidFill>
                <a:latin typeface="Arial" pitchFamily="34" charset="0"/>
                <a:ea typeface="Arial" pitchFamily="34" charset="-122"/>
                <a:cs typeface="Arial" pitchFamily="34" charset="-120"/>
              </a:rPr>
              <a:t>Mobile app</a:t>
            </a:r>
            <a:endParaRPr lang="en-US" sz="1800" dirty="0"/>
          </a:p>
        </p:txBody>
      </p:sp>
      <p:sp>
        <p:nvSpPr>
          <p:cNvPr id="9" name="Text 6"/>
          <p:cNvSpPr txBox="1"/>
          <p:nvPr/>
        </p:nvSpPr>
        <p:spPr>
          <a:xfrm>
            <a:off x="1066800" y="3073400"/>
            <a:ext cx="2876550" cy="1270000"/>
          </a:xfrm>
          <a:prstGeom prst="rect">
            <a:avLst/>
          </a:prstGeom>
          <a:noFill/>
          <a:ln/>
        </p:spPr>
        <p:txBody>
          <a:bodyPr wrap="square" lIns="0" tIns="0" rIns="0" bIns="0" rtlCol="0" anchor="t"/>
          <a:lstStyle/>
          <a:p>
            <a:pPr indent="0" marL="0">
              <a:lnSpc>
                <a:spcPct val="120000"/>
              </a:lnSpc>
              <a:buNone/>
            </a:pPr>
            <a:r>
              <a:rPr lang="en-US" sz="1400" dirty="0">
                <a:solidFill>
                  <a:srgbClr val="4A4F57"/>
                </a:solidFill>
                <a:latin typeface="Arial" pitchFamily="34" charset="0"/>
                <a:ea typeface="Arial" pitchFamily="34" charset="-122"/>
                <a:cs typeface="Arial" pitchFamily="34" charset="-120"/>
              </a:rPr>
              <a:t>Citizens raise SOS and report incidents. Responders receive dispatches, run missions and stream live video.</a:t>
            </a:r>
            <a:endParaRPr lang="en-US" sz="1400" dirty="0"/>
          </a:p>
        </p:txBody>
      </p:sp>
      <p:sp>
        <p:nvSpPr>
          <p:cNvPr id="10" name="Shape 7"/>
          <p:cNvSpPr/>
          <p:nvPr/>
        </p:nvSpPr>
        <p:spPr>
          <a:xfrm>
            <a:off x="4400550" y="1905000"/>
            <a:ext cx="3384550" cy="2540000"/>
          </a:xfrm>
          <a:prstGeom prst="roundRect">
            <a:avLst>
              <a:gd name="adj" fmla="val 4320"/>
            </a:avLst>
          </a:prstGeom>
          <a:solidFill>
            <a:srgbClr val="FBF9F6"/>
          </a:solidFill>
          <a:ln w="12700">
            <a:solidFill>
              <a:srgbClr val="D9D2C9"/>
            </a:solidFill>
            <a:prstDash val="solid"/>
          </a:ln>
        </p:spPr>
      </p:sp>
      <p:sp>
        <p:nvSpPr>
          <p:cNvPr id="11" name="Shape 8"/>
          <p:cNvSpPr/>
          <p:nvPr/>
        </p:nvSpPr>
        <p:spPr>
          <a:xfrm>
            <a:off x="4654550" y="2159000"/>
            <a:ext cx="355600" cy="355600"/>
          </a:xfrm>
          <a:prstGeom prst="ellipse">
            <a:avLst/>
          </a:prstGeom>
          <a:solidFill>
            <a:srgbClr val="C21F27"/>
          </a:solidFill>
          <a:ln w="12700">
            <a:solidFill>
              <a:srgbClr val="C21F27"/>
            </a:solidFill>
            <a:prstDash val="solid"/>
          </a:ln>
        </p:spPr>
      </p:sp>
      <p:sp>
        <p:nvSpPr>
          <p:cNvPr id="12" name="Text 9"/>
          <p:cNvSpPr txBox="1"/>
          <p:nvPr/>
        </p:nvSpPr>
        <p:spPr>
          <a:xfrm>
            <a:off x="4654550" y="2159000"/>
            <a:ext cx="355600" cy="355600"/>
          </a:xfrm>
          <a:prstGeom prst="rect">
            <a:avLst/>
          </a:prstGeom>
          <a:noFill/>
          <a:ln/>
        </p:spPr>
        <p:txBody>
          <a:bodyPr wrap="square" lIns="0" tIns="0" rIns="0" bIns="0" rtlCol="0" anchor="ctr"/>
          <a:lstStyle/>
          <a:p>
            <a:pPr algn="ctr" indent="0" marL="0">
              <a:buNone/>
            </a:pPr>
            <a:r>
              <a:rPr lang="en-US" sz="1600" b="1" dirty="0">
                <a:solidFill>
                  <a:srgbClr val="FBF7F3"/>
                </a:solidFill>
                <a:latin typeface="Arial" pitchFamily="34" charset="0"/>
                <a:ea typeface="Arial" pitchFamily="34" charset="-122"/>
                <a:cs typeface="Arial" pitchFamily="34" charset="-120"/>
              </a:rPr>
              <a:t>2</a:t>
            </a:r>
            <a:endParaRPr lang="en-US" sz="1600" dirty="0"/>
          </a:p>
        </p:txBody>
      </p:sp>
      <p:sp>
        <p:nvSpPr>
          <p:cNvPr id="13" name="Text 10"/>
          <p:cNvSpPr txBox="1"/>
          <p:nvPr/>
        </p:nvSpPr>
        <p:spPr>
          <a:xfrm>
            <a:off x="4654550" y="2692400"/>
            <a:ext cx="2876550" cy="317500"/>
          </a:xfrm>
          <a:prstGeom prst="rect">
            <a:avLst/>
          </a:prstGeom>
          <a:noFill/>
          <a:ln/>
        </p:spPr>
        <p:txBody>
          <a:bodyPr wrap="square" lIns="0" tIns="0" rIns="0" bIns="0" rtlCol="0" anchor="t"/>
          <a:lstStyle/>
          <a:p>
            <a:pPr indent="0" marL="0">
              <a:buNone/>
            </a:pPr>
            <a:r>
              <a:rPr lang="en-US" sz="1800" b="1" dirty="0">
                <a:solidFill>
                  <a:srgbClr val="1B1D22"/>
                </a:solidFill>
                <a:latin typeface="Arial" pitchFamily="34" charset="0"/>
                <a:ea typeface="Arial" pitchFamily="34" charset="-122"/>
                <a:cs typeface="Arial" pitchFamily="34" charset="-120"/>
              </a:rPr>
              <a:t>HQ command console</a:t>
            </a:r>
            <a:endParaRPr lang="en-US" sz="1800" dirty="0"/>
          </a:p>
        </p:txBody>
      </p:sp>
      <p:sp>
        <p:nvSpPr>
          <p:cNvPr id="14" name="Text 11"/>
          <p:cNvSpPr txBox="1"/>
          <p:nvPr/>
        </p:nvSpPr>
        <p:spPr>
          <a:xfrm>
            <a:off x="4654550" y="3073400"/>
            <a:ext cx="2876550" cy="1270000"/>
          </a:xfrm>
          <a:prstGeom prst="rect">
            <a:avLst/>
          </a:prstGeom>
          <a:noFill/>
          <a:ln/>
        </p:spPr>
        <p:txBody>
          <a:bodyPr wrap="square" lIns="0" tIns="0" rIns="0" bIns="0" rtlCol="0" anchor="t"/>
          <a:lstStyle/>
          <a:p>
            <a:pPr indent="0" marL="0">
              <a:lnSpc>
                <a:spcPct val="120000"/>
              </a:lnSpc>
              <a:buNone/>
            </a:pPr>
            <a:r>
              <a:rPr lang="en-US" sz="1400" dirty="0">
                <a:solidFill>
                  <a:srgbClr val="4A4F57"/>
                </a:solidFill>
                <a:latin typeface="Arial" pitchFamily="34" charset="0"/>
                <a:ea typeface="Arial" pitchFamily="34" charset="-122"/>
                <a:cs typeface="Arial" pitchFamily="34" charset="-120"/>
              </a:rPr>
              <a:t>The operations board: live map, incident feed, dispatch, escalation, agency portal and mass broadcast.</a:t>
            </a:r>
            <a:endParaRPr lang="en-US" sz="1400" dirty="0"/>
          </a:p>
        </p:txBody>
      </p:sp>
      <p:sp>
        <p:nvSpPr>
          <p:cNvPr id="15" name="Shape 12"/>
          <p:cNvSpPr/>
          <p:nvPr/>
        </p:nvSpPr>
        <p:spPr>
          <a:xfrm>
            <a:off x="7988300" y="1905000"/>
            <a:ext cx="3384550" cy="2540000"/>
          </a:xfrm>
          <a:prstGeom prst="roundRect">
            <a:avLst>
              <a:gd name="adj" fmla="val 4320"/>
            </a:avLst>
          </a:prstGeom>
          <a:solidFill>
            <a:srgbClr val="FBF9F6"/>
          </a:solidFill>
          <a:ln w="12700">
            <a:solidFill>
              <a:srgbClr val="D9D2C9"/>
            </a:solidFill>
            <a:prstDash val="solid"/>
          </a:ln>
        </p:spPr>
      </p:sp>
      <p:sp>
        <p:nvSpPr>
          <p:cNvPr id="16" name="Shape 13"/>
          <p:cNvSpPr/>
          <p:nvPr/>
        </p:nvSpPr>
        <p:spPr>
          <a:xfrm>
            <a:off x="8242300" y="2159000"/>
            <a:ext cx="355600" cy="355600"/>
          </a:xfrm>
          <a:prstGeom prst="ellipse">
            <a:avLst/>
          </a:prstGeom>
          <a:solidFill>
            <a:srgbClr val="C21F27"/>
          </a:solidFill>
          <a:ln w="12700">
            <a:solidFill>
              <a:srgbClr val="C21F27"/>
            </a:solidFill>
            <a:prstDash val="solid"/>
          </a:ln>
        </p:spPr>
      </p:sp>
      <p:sp>
        <p:nvSpPr>
          <p:cNvPr id="17" name="Text 14"/>
          <p:cNvSpPr txBox="1"/>
          <p:nvPr/>
        </p:nvSpPr>
        <p:spPr>
          <a:xfrm>
            <a:off x="8242300" y="2159000"/>
            <a:ext cx="355600" cy="355600"/>
          </a:xfrm>
          <a:prstGeom prst="rect">
            <a:avLst/>
          </a:prstGeom>
          <a:noFill/>
          <a:ln/>
        </p:spPr>
        <p:txBody>
          <a:bodyPr wrap="square" lIns="0" tIns="0" rIns="0" bIns="0" rtlCol="0" anchor="ctr"/>
          <a:lstStyle/>
          <a:p>
            <a:pPr algn="ctr" indent="0" marL="0">
              <a:buNone/>
            </a:pPr>
            <a:r>
              <a:rPr lang="en-US" sz="1600" b="1" dirty="0">
                <a:solidFill>
                  <a:srgbClr val="FBF7F3"/>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8242300" y="2692400"/>
            <a:ext cx="2876550" cy="317500"/>
          </a:xfrm>
          <a:prstGeom prst="rect">
            <a:avLst/>
          </a:prstGeom>
          <a:noFill/>
          <a:ln/>
        </p:spPr>
        <p:txBody>
          <a:bodyPr wrap="square" lIns="0" tIns="0" rIns="0" bIns="0" rtlCol="0" anchor="t"/>
          <a:lstStyle/>
          <a:p>
            <a:pPr indent="0" marL="0">
              <a:buNone/>
            </a:pPr>
            <a:r>
              <a:rPr lang="en-US" sz="1800" b="1" dirty="0">
                <a:solidFill>
                  <a:srgbClr val="1B1D22"/>
                </a:solidFill>
                <a:latin typeface="Arial" pitchFamily="34" charset="0"/>
                <a:ea typeface="Arial" pitchFamily="34" charset="-122"/>
                <a:cs typeface="Arial" pitchFamily="34" charset="-120"/>
              </a:rPr>
              <a:t>Secure backend</a:t>
            </a:r>
            <a:endParaRPr lang="en-US" sz="1800" dirty="0"/>
          </a:p>
        </p:txBody>
      </p:sp>
      <p:sp>
        <p:nvSpPr>
          <p:cNvPr id="19" name="Text 16"/>
          <p:cNvSpPr txBox="1"/>
          <p:nvPr/>
        </p:nvSpPr>
        <p:spPr>
          <a:xfrm>
            <a:off x="8242300" y="3073400"/>
            <a:ext cx="2876550" cy="1270000"/>
          </a:xfrm>
          <a:prstGeom prst="rect">
            <a:avLst/>
          </a:prstGeom>
          <a:noFill/>
          <a:ln/>
        </p:spPr>
        <p:txBody>
          <a:bodyPr wrap="square" lIns="0" tIns="0" rIns="0" bIns="0" rtlCol="0" anchor="t"/>
          <a:lstStyle/>
          <a:p>
            <a:pPr indent="0" marL="0">
              <a:lnSpc>
                <a:spcPct val="120000"/>
              </a:lnSpc>
              <a:buNone/>
            </a:pPr>
            <a:r>
              <a:rPr lang="en-US" sz="1400" dirty="0">
                <a:solidFill>
                  <a:srgbClr val="4A4F57"/>
                </a:solidFill>
                <a:latin typeface="Arial" pitchFamily="34" charset="0"/>
                <a:ea typeface="Arial" pitchFamily="34" charset="-122"/>
                <a:cs typeface="Arial" pitchFamily="34" charset="-120"/>
              </a:rPr>
              <a:t>One database with role-based access, live updates and media storage, plus SMS, USSD and Bluetooth mesh when data is down.</a:t>
            </a:r>
            <a:endParaRPr lang="en-US" sz="1400" dirty="0"/>
          </a:p>
        </p:txBody>
      </p:sp>
      <p:sp>
        <p:nvSpPr>
          <p:cNvPr id="20" name="Shape 17"/>
          <p:cNvSpPr/>
          <p:nvPr/>
        </p:nvSpPr>
        <p:spPr>
          <a:xfrm>
            <a:off x="812800" y="4699000"/>
            <a:ext cx="10566400" cy="660400"/>
          </a:xfrm>
          <a:prstGeom prst="roundRect">
            <a:avLst>
              <a:gd name="adj" fmla="val 16615"/>
            </a:avLst>
          </a:prstGeom>
          <a:solidFill>
            <a:srgbClr val="1B1D22"/>
          </a:solidFill>
          <a:ln w="12700">
            <a:solidFill>
              <a:srgbClr val="1B1D22"/>
            </a:solidFill>
            <a:prstDash val="solid"/>
          </a:ln>
        </p:spPr>
      </p:sp>
      <p:sp>
        <p:nvSpPr>
          <p:cNvPr id="21" name="Text 18"/>
          <p:cNvSpPr txBox="1"/>
          <p:nvPr/>
        </p:nvSpPr>
        <p:spPr>
          <a:xfrm>
            <a:off x="1066800" y="4699000"/>
            <a:ext cx="10058400" cy="660400"/>
          </a:xfrm>
          <a:prstGeom prst="rect">
            <a:avLst/>
          </a:prstGeom>
          <a:noFill/>
          <a:ln/>
        </p:spPr>
        <p:txBody>
          <a:bodyPr wrap="square" lIns="0" tIns="0" rIns="0" bIns="0" rtlCol="0" anchor="ctr"/>
          <a:lstStyle/>
          <a:p>
            <a:pPr indent="0" marL="0">
              <a:buNone/>
            </a:pPr>
            <a:r>
              <a:rPr lang="en-US" sz="1600" b="1" dirty="0">
                <a:solidFill>
                  <a:srgbClr val="F6F3EF"/>
                </a:solidFill>
                <a:latin typeface="Arial" pitchFamily="34" charset="0"/>
                <a:ea typeface="Arial" pitchFamily="34" charset="-122"/>
                <a:cs typeface="Arial" pitchFamily="34" charset="-120"/>
              </a:rPr>
              <a:t>Citizen raises the alarm</a:t>
            </a:r>
            <a:pPr indent="0" marL="0">
              <a:buNone/>
            </a:pPr>
            <a:r>
              <a:rPr lang="en-US" sz="1600" b="1" dirty="0">
                <a:solidFill>
                  <a:srgbClr val="F07A7F"/>
                </a:solidFill>
                <a:latin typeface="Arial" pitchFamily="34" charset="0"/>
                <a:ea typeface="Arial" pitchFamily="34" charset="-122"/>
                <a:cs typeface="Arial" pitchFamily="34" charset="-120"/>
              </a:rPr>
              <a:t>   →   </a:t>
            </a:r>
            <a:pPr indent="0" marL="0">
              <a:buNone/>
            </a:pPr>
            <a:r>
              <a:rPr lang="en-US" sz="1600" b="1" dirty="0">
                <a:solidFill>
                  <a:srgbClr val="F6F3EF"/>
                </a:solidFill>
                <a:latin typeface="Arial" pitchFamily="34" charset="0"/>
                <a:ea typeface="Arial" pitchFamily="34" charset="-122"/>
                <a:cs typeface="Arial" pitchFamily="34" charset="-120"/>
              </a:rPr>
              <a:t>HQ sees it live</a:t>
            </a:r>
            <a:pPr indent="0" marL="0">
              <a:buNone/>
            </a:pPr>
            <a:r>
              <a:rPr lang="en-US" sz="1600" b="1" dirty="0">
                <a:solidFill>
                  <a:srgbClr val="F07A7F"/>
                </a:solidFill>
                <a:latin typeface="Arial" pitchFamily="34" charset="0"/>
                <a:ea typeface="Arial" pitchFamily="34" charset="-122"/>
                <a:cs typeface="Arial" pitchFamily="34" charset="-120"/>
              </a:rPr>
              <a:t>   →   </a:t>
            </a:r>
            <a:pPr indent="0" marL="0">
              <a:buNone/>
            </a:pPr>
            <a:r>
              <a:rPr lang="en-US" sz="1600" b="1" dirty="0">
                <a:solidFill>
                  <a:srgbClr val="F6F3EF"/>
                </a:solidFill>
                <a:latin typeface="Arial" pitchFamily="34" charset="0"/>
                <a:ea typeface="Arial" pitchFamily="34" charset="-122"/>
                <a:cs typeface="Arial" pitchFamily="34" charset="-120"/>
              </a:rPr>
              <a:t>Responders and agencies act</a:t>
            </a:r>
            <a:endParaRPr lang="en-US" sz="16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812800" y="1905000"/>
            <a:ext cx="2540000" cy="444500"/>
          </a:xfrm>
          <a:prstGeom prst="rect">
            <a:avLst/>
          </a:prstGeom>
          <a:noFill/>
          <a:ln/>
        </p:spPr>
        <p:txBody>
          <a:bodyPr wrap="square" lIns="0" tIns="0" rIns="0" bIns="0" rtlCol="0" anchor="t"/>
          <a:lstStyle/>
          <a:p>
            <a:pPr indent="0" marL="0">
              <a:buNone/>
            </a:pPr>
            <a:r>
              <a:rPr lang="en-US" sz="2200" b="1" dirty="0">
                <a:solidFill>
                  <a:srgbClr val="F7C9CB"/>
                </a:solidFill>
                <a:latin typeface="Arial" pitchFamily="34" charset="0"/>
                <a:ea typeface="Arial" pitchFamily="34" charset="-122"/>
                <a:cs typeface="Arial" pitchFamily="34" charset="-120"/>
              </a:rPr>
              <a:t>01</a:t>
            </a:r>
            <a:endParaRPr lang="en-US" sz="2200" dirty="0"/>
          </a:p>
        </p:txBody>
      </p:sp>
      <p:sp>
        <p:nvSpPr>
          <p:cNvPr id="4" name="Text 0"/>
          <p:cNvSpPr/>
          <p:nvPr>
            <p:ph idx="100" type="title" hasCustomPrompt="1"/>
          </p:nvPr>
        </p:nvSpPr>
        <p:spPr>
          <a:xfrm>
            <a:off x="812800" y="2540000"/>
            <a:ext cx="10566400" cy="952500"/>
          </a:xfrm>
          <a:prstGeom prst="rect">
            <a:avLst/>
          </a:prstGeom>
          <a:noFill/>
          <a:ln/>
        </p:spPr>
        <p:txBody>
          <a:bodyPr wrap="square" lIns="0" tIns="0" rIns="0" bIns="0" rtlCol="0" anchor="t"/>
          <a:lstStyle/>
          <a:p>
            <a:pPr algn="l" indent="0" marL="0">
              <a:buNone/>
            </a:pPr>
            <a:r>
              <a:rPr lang="en-US" sz="6000" b="1" dirty="0">
                <a:solidFill>
                  <a:srgbClr val="FBF7F3"/>
                </a:solidFill>
                <a:latin typeface="Arial" pitchFamily="34" charset="0"/>
                <a:ea typeface="Arial" pitchFamily="34" charset="-122"/>
                <a:cs typeface="Arial" pitchFamily="34" charset="-120"/>
              </a:rPr>
              <a:t>The mobile app</a:t>
            </a:r>
            <a:endParaRPr lang="en-US" sz="6000" dirty="0"/>
          </a:p>
        </p:txBody>
      </p:sp>
      <p:sp>
        <p:nvSpPr>
          <p:cNvPr id="5" name="Text 2"/>
          <p:cNvSpPr txBox="1"/>
          <p:nvPr/>
        </p:nvSpPr>
        <p:spPr>
          <a:xfrm>
            <a:off x="812800" y="3683000"/>
            <a:ext cx="8255000" cy="889000"/>
          </a:xfrm>
          <a:prstGeom prst="rect">
            <a:avLst/>
          </a:prstGeom>
          <a:noFill/>
          <a:ln/>
        </p:spPr>
        <p:txBody>
          <a:bodyPr wrap="square" lIns="0" tIns="0" rIns="0" bIns="0" rtlCol="0" anchor="t"/>
          <a:lstStyle/>
          <a:p>
            <a:pPr indent="0" marL="0">
              <a:lnSpc>
                <a:spcPct val="120000"/>
              </a:lnSpc>
              <a:buNone/>
            </a:pPr>
            <a:r>
              <a:rPr lang="en-US" sz="2200" dirty="0">
                <a:solidFill>
                  <a:srgbClr val="FBF7F3"/>
                </a:solidFill>
                <a:latin typeface="Arial" pitchFamily="34" charset="0"/>
                <a:ea typeface="Arial" pitchFamily="34" charset="-122"/>
                <a:cs typeface="Arial" pitchFamily="34" charset="-120"/>
              </a:rPr>
              <a:t>Signing up, raising an alarm and reporting an incident, as a citizen sees it.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812800" y="812800"/>
            <a:ext cx="69850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MOBILE APP · SIGN-IN</a:t>
            </a:r>
            <a:endParaRPr lang="en-US" sz="1200" dirty="0"/>
          </a:p>
        </p:txBody>
      </p:sp>
      <p:sp>
        <p:nvSpPr>
          <p:cNvPr id="4" name="Text 1"/>
          <p:cNvSpPr/>
          <p:nvPr>
            <p:ph idx="101" type="title" hasCustomPrompt="1"/>
          </p:nvPr>
        </p:nvSpPr>
        <p:spPr>
          <a:xfrm>
            <a:off x="812800" y="1117600"/>
            <a:ext cx="5588000" cy="1016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Sign in with a phone number</a:t>
            </a:r>
            <a:endParaRPr lang="en-US" sz="3200" dirty="0"/>
          </a:p>
        </p:txBody>
      </p:sp>
      <p:sp>
        <p:nvSpPr>
          <p:cNvPr id="5" name="Text 2"/>
          <p:cNvSpPr txBox="1"/>
          <p:nvPr/>
        </p:nvSpPr>
        <p:spPr>
          <a:xfrm>
            <a:off x="812800" y="2222500"/>
            <a:ext cx="6985000" cy="8255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No passwords to remember. A citizen enters their phone number and confirms it with a code sent by SMS.</a:t>
            </a:r>
            <a:endParaRPr lang="en-US" sz="1500" dirty="0"/>
          </a:p>
        </p:txBody>
      </p:sp>
      <p:sp>
        <p:nvSpPr>
          <p:cNvPr id="6" name="Shape 3"/>
          <p:cNvSpPr/>
          <p:nvPr/>
        </p:nvSpPr>
        <p:spPr>
          <a:xfrm>
            <a:off x="812800" y="3225800"/>
            <a:ext cx="127000" cy="127000"/>
          </a:xfrm>
          <a:prstGeom prst="ellipse">
            <a:avLst/>
          </a:prstGeom>
          <a:solidFill>
            <a:srgbClr val="C21F27"/>
          </a:solidFill>
          <a:ln w="12700">
            <a:solidFill>
              <a:srgbClr val="C21F27"/>
            </a:solidFill>
            <a:prstDash val="solid"/>
          </a:ln>
        </p:spPr>
      </p:sp>
      <p:sp>
        <p:nvSpPr>
          <p:cNvPr id="7" name="Text 4"/>
          <p:cNvSpPr txBox="1"/>
          <p:nvPr/>
        </p:nvSpPr>
        <p:spPr>
          <a:xfrm>
            <a:off x="1066800" y="3175000"/>
            <a:ext cx="6731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One-time 6-digit code</a:t>
            </a:r>
            <a:endParaRPr lang="en-US" sz="1500" dirty="0"/>
          </a:p>
        </p:txBody>
      </p:sp>
      <p:sp>
        <p:nvSpPr>
          <p:cNvPr id="8" name="Text 5"/>
          <p:cNvSpPr txBox="1"/>
          <p:nvPr/>
        </p:nvSpPr>
        <p:spPr>
          <a:xfrm>
            <a:off x="1066800" y="3454400"/>
            <a:ext cx="6731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Sent to the phone on every sign-in, so the number is proven to belong to the person.</a:t>
            </a:r>
            <a:endParaRPr lang="en-US" sz="1400" dirty="0"/>
          </a:p>
        </p:txBody>
      </p:sp>
      <p:sp>
        <p:nvSpPr>
          <p:cNvPr id="9" name="Shape 6"/>
          <p:cNvSpPr/>
          <p:nvPr/>
        </p:nvSpPr>
        <p:spPr>
          <a:xfrm>
            <a:off x="812800" y="4089400"/>
            <a:ext cx="127000" cy="127000"/>
          </a:xfrm>
          <a:prstGeom prst="ellipse">
            <a:avLst/>
          </a:prstGeom>
          <a:solidFill>
            <a:srgbClr val="C21F27"/>
          </a:solidFill>
          <a:ln w="12700">
            <a:solidFill>
              <a:srgbClr val="C21F27"/>
            </a:solidFill>
            <a:prstDash val="solid"/>
          </a:ln>
        </p:spPr>
      </p:sp>
      <p:sp>
        <p:nvSpPr>
          <p:cNvPr id="10" name="Text 7"/>
          <p:cNvSpPr txBox="1"/>
          <p:nvPr/>
        </p:nvSpPr>
        <p:spPr>
          <a:xfrm>
            <a:off x="1066800" y="4038600"/>
            <a:ext cx="6731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Staff use an access code</a:t>
            </a:r>
            <a:endParaRPr lang="en-US" sz="1500" dirty="0"/>
          </a:p>
        </p:txBody>
      </p:sp>
      <p:sp>
        <p:nvSpPr>
          <p:cNvPr id="11" name="Text 8"/>
          <p:cNvSpPr txBox="1"/>
          <p:nvPr/>
        </p:nvSpPr>
        <p:spPr>
          <a:xfrm>
            <a:off x="1066800" y="4318000"/>
            <a:ext cx="6731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Responders and officers sign in through the same screen with the access code HQ issues them.</a:t>
            </a:r>
            <a:endParaRPr lang="en-US" sz="1400" dirty="0"/>
          </a:p>
        </p:txBody>
      </p:sp>
      <p:sp>
        <p:nvSpPr>
          <p:cNvPr id="12" name="Shape 9"/>
          <p:cNvSpPr/>
          <p:nvPr/>
        </p:nvSpPr>
        <p:spPr>
          <a:xfrm>
            <a:off x="812800" y="4953000"/>
            <a:ext cx="127000" cy="127000"/>
          </a:xfrm>
          <a:prstGeom prst="ellipse">
            <a:avLst/>
          </a:prstGeom>
          <a:solidFill>
            <a:srgbClr val="C21F27"/>
          </a:solidFill>
          <a:ln w="12700">
            <a:solidFill>
              <a:srgbClr val="C21F27"/>
            </a:solidFill>
            <a:prstDash val="solid"/>
          </a:ln>
        </p:spPr>
      </p:sp>
      <p:sp>
        <p:nvSpPr>
          <p:cNvPr id="13" name="Text 10"/>
          <p:cNvSpPr txBox="1"/>
          <p:nvPr/>
        </p:nvSpPr>
        <p:spPr>
          <a:xfrm>
            <a:off x="1066800" y="4902200"/>
            <a:ext cx="6731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Honest error messages</a:t>
            </a:r>
            <a:endParaRPr lang="en-US" sz="1500" dirty="0"/>
          </a:p>
        </p:txBody>
      </p:sp>
      <p:sp>
        <p:nvSpPr>
          <p:cNvPr id="14" name="Text 11"/>
          <p:cNvSpPr txBox="1"/>
          <p:nvPr/>
        </p:nvSpPr>
        <p:spPr>
          <a:xfrm>
            <a:off x="1066800" y="5181600"/>
            <a:ext cx="6731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If sign-in is down on the service side, the app says so instead of asking the person to retry.</a:t>
            </a:r>
            <a:endParaRPr lang="en-US" sz="1400" dirty="0"/>
          </a:p>
        </p:txBody>
      </p:sp>
      <p:sp>
        <p:nvSpPr>
          <p:cNvPr id="15" name="Shape 12"/>
          <p:cNvSpPr/>
          <p:nvPr/>
        </p:nvSpPr>
        <p:spPr>
          <a:xfrm>
            <a:off x="92710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6" name="Image 0" descr="Sign-in screen with the phone or access code field">    </p:cNvPr>
          <p:cNvPicPr>
            <a:picLocks noChangeAspect="1"/>
          </p:cNvPicPr>
          <p:nvPr/>
        </p:nvPicPr>
        <p:blipFill>
          <a:blip r:embed="rId1"/>
          <a:stretch>
            <a:fillRect/>
          </a:stretch>
        </p:blipFill>
        <p:spPr>
          <a:xfrm>
            <a:off x="9321800" y="927100"/>
            <a:ext cx="2006600" cy="4343400"/>
          </a:xfrm>
          <a:prstGeom prst="rect">
            <a:avLst/>
          </a:prstGeom>
        </p:spPr>
      </p:pic>
      <p:sp>
        <p:nvSpPr>
          <p:cNvPr id="17" name="Text 13"/>
          <p:cNvSpPr txBox="1"/>
          <p:nvPr/>
        </p:nvSpPr>
        <p:spPr>
          <a:xfrm>
            <a:off x="92710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Sign-in screen</a:t>
            </a:r>
            <a:endParaRPr lang="en-US" sz="1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812800" y="812800"/>
            <a:ext cx="55880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MOBILE APP · ONBOARDING</a:t>
            </a:r>
            <a:endParaRPr lang="en-US" sz="1200" dirty="0"/>
          </a:p>
        </p:txBody>
      </p:sp>
      <p:sp>
        <p:nvSpPr>
          <p:cNvPr id="4" name="Text 1"/>
          <p:cNvSpPr/>
          <p:nvPr>
            <p:ph idx="101" type="title" hasCustomPrompt="1"/>
          </p:nvPr>
        </p:nvSpPr>
        <p:spPr>
          <a:xfrm>
            <a:off x="812800" y="1117600"/>
            <a:ext cx="5588000" cy="1016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Set up in three steps</a:t>
            </a:r>
            <a:endParaRPr lang="en-US" sz="3200" dirty="0"/>
          </a:p>
        </p:txBody>
      </p:sp>
      <p:sp>
        <p:nvSpPr>
          <p:cNvPr id="5" name="Text 2"/>
          <p:cNvSpPr txBox="1"/>
          <p:nvPr/>
        </p:nvSpPr>
        <p:spPr>
          <a:xfrm>
            <a:off x="812800" y="2222500"/>
            <a:ext cx="5588000" cy="8255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New users are walked through a short setup before they reach the SOS screen.</a:t>
            </a:r>
            <a:endParaRPr lang="en-US" sz="1500" dirty="0"/>
          </a:p>
        </p:txBody>
      </p:sp>
      <p:sp>
        <p:nvSpPr>
          <p:cNvPr id="6" name="Shape 3"/>
          <p:cNvSpPr/>
          <p:nvPr/>
        </p:nvSpPr>
        <p:spPr>
          <a:xfrm>
            <a:off x="812800" y="3225800"/>
            <a:ext cx="127000" cy="127000"/>
          </a:xfrm>
          <a:prstGeom prst="ellipse">
            <a:avLst/>
          </a:prstGeom>
          <a:solidFill>
            <a:srgbClr val="C21F27"/>
          </a:solidFill>
          <a:ln w="12700">
            <a:solidFill>
              <a:srgbClr val="C21F27"/>
            </a:solidFill>
            <a:prstDash val="solid"/>
          </a:ln>
        </p:spPr>
      </p:sp>
      <p:sp>
        <p:nvSpPr>
          <p:cNvPr id="7" name="Text 4"/>
          <p:cNvSpPr txBox="1"/>
          <p:nvPr/>
        </p:nvSpPr>
        <p:spPr>
          <a:xfrm>
            <a:off x="1066800" y="31750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1 · Permissions</a:t>
            </a:r>
            <a:endParaRPr lang="en-US" sz="1500" dirty="0"/>
          </a:p>
        </p:txBody>
      </p:sp>
      <p:sp>
        <p:nvSpPr>
          <p:cNvPr id="8" name="Text 5"/>
          <p:cNvSpPr txBox="1"/>
          <p:nvPr/>
        </p:nvSpPr>
        <p:spPr>
          <a:xfrm>
            <a:off x="1066800" y="34544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Location (required), SMS and microphone, so an alert carries a position and works offline.</a:t>
            </a:r>
            <a:endParaRPr lang="en-US" sz="1400" dirty="0"/>
          </a:p>
        </p:txBody>
      </p:sp>
      <p:sp>
        <p:nvSpPr>
          <p:cNvPr id="9" name="Shape 6"/>
          <p:cNvSpPr/>
          <p:nvPr/>
        </p:nvSpPr>
        <p:spPr>
          <a:xfrm>
            <a:off x="812800" y="4089400"/>
            <a:ext cx="127000" cy="127000"/>
          </a:xfrm>
          <a:prstGeom prst="ellipse">
            <a:avLst/>
          </a:prstGeom>
          <a:solidFill>
            <a:srgbClr val="C21F27"/>
          </a:solidFill>
          <a:ln w="12700">
            <a:solidFill>
              <a:srgbClr val="C21F27"/>
            </a:solidFill>
            <a:prstDash val="solid"/>
          </a:ln>
        </p:spPr>
      </p:sp>
      <p:sp>
        <p:nvSpPr>
          <p:cNvPr id="10" name="Text 7"/>
          <p:cNvSpPr txBox="1"/>
          <p:nvPr/>
        </p:nvSpPr>
        <p:spPr>
          <a:xfrm>
            <a:off x="1066800" y="40386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2 · Identity and location</a:t>
            </a:r>
            <a:endParaRPr lang="en-US" sz="1500" dirty="0"/>
          </a:p>
        </p:txBody>
      </p:sp>
      <p:sp>
        <p:nvSpPr>
          <p:cNvPr id="11" name="Text 8"/>
          <p:cNvSpPr txBox="1"/>
          <p:nvPr/>
        </p:nvSpPr>
        <p:spPr>
          <a:xfrm>
            <a:off x="1066800" y="43180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Photo, full name, phone and LGA, mapped to the person's polling unit for faster response.</a:t>
            </a:r>
            <a:endParaRPr lang="en-US" sz="1400" dirty="0"/>
          </a:p>
        </p:txBody>
      </p:sp>
      <p:sp>
        <p:nvSpPr>
          <p:cNvPr id="12" name="Shape 9"/>
          <p:cNvSpPr/>
          <p:nvPr/>
        </p:nvSpPr>
        <p:spPr>
          <a:xfrm>
            <a:off x="812800" y="4953000"/>
            <a:ext cx="127000" cy="127000"/>
          </a:xfrm>
          <a:prstGeom prst="ellipse">
            <a:avLst/>
          </a:prstGeom>
          <a:solidFill>
            <a:srgbClr val="C21F27"/>
          </a:solidFill>
          <a:ln w="12700">
            <a:solidFill>
              <a:srgbClr val="C21F27"/>
            </a:solidFill>
            <a:prstDash val="solid"/>
          </a:ln>
        </p:spPr>
      </p:sp>
      <p:sp>
        <p:nvSpPr>
          <p:cNvPr id="13" name="Text 10"/>
          <p:cNvSpPr txBox="1"/>
          <p:nvPr/>
        </p:nvSpPr>
        <p:spPr>
          <a:xfrm>
            <a:off x="1066800" y="49022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3 · Trusted contacts</a:t>
            </a:r>
            <a:endParaRPr lang="en-US" sz="1500" dirty="0"/>
          </a:p>
        </p:txBody>
      </p:sp>
      <p:sp>
        <p:nvSpPr>
          <p:cNvPr id="14" name="Text 11"/>
          <p:cNvSpPr txBox="1"/>
          <p:nvPr/>
        </p:nvSpPr>
        <p:spPr>
          <a:xfrm>
            <a:off x="1066800" y="51816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People who are alerted automatically when this user raises an emergency.</a:t>
            </a:r>
            <a:endParaRPr lang="en-US" sz="1400" dirty="0"/>
          </a:p>
        </p:txBody>
      </p:sp>
      <p:sp>
        <p:nvSpPr>
          <p:cNvPr id="15" name="Shape 12"/>
          <p:cNvSpPr/>
          <p:nvPr/>
        </p:nvSpPr>
        <p:spPr>
          <a:xfrm>
            <a:off x="69088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6" name="Image 0" descr="Onboarding step 2: identity and location form">    </p:cNvPr>
          <p:cNvPicPr>
            <a:picLocks noChangeAspect="1"/>
          </p:cNvPicPr>
          <p:nvPr/>
        </p:nvPicPr>
        <p:blipFill>
          <a:blip r:embed="rId1"/>
          <a:stretch>
            <a:fillRect/>
          </a:stretch>
        </p:blipFill>
        <p:spPr>
          <a:xfrm>
            <a:off x="6959600" y="927100"/>
            <a:ext cx="2006600" cy="4343400"/>
          </a:xfrm>
          <a:prstGeom prst="rect">
            <a:avLst/>
          </a:prstGeom>
        </p:spPr>
      </p:pic>
      <p:sp>
        <p:nvSpPr>
          <p:cNvPr id="17" name="Text 13"/>
          <p:cNvSpPr txBox="1"/>
          <p:nvPr/>
        </p:nvSpPr>
        <p:spPr>
          <a:xfrm>
            <a:off x="69088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Step 2 · Identity</a:t>
            </a:r>
            <a:endParaRPr lang="en-US" sz="1200" dirty="0"/>
          </a:p>
        </p:txBody>
      </p:sp>
      <p:sp>
        <p:nvSpPr>
          <p:cNvPr id="18" name="Shape 14"/>
          <p:cNvSpPr/>
          <p:nvPr/>
        </p:nvSpPr>
        <p:spPr>
          <a:xfrm>
            <a:off x="92710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9" name="Image 1" descr="Onboarding step 3: trusted contacts">    </p:cNvPr>
          <p:cNvPicPr>
            <a:picLocks noChangeAspect="1"/>
          </p:cNvPicPr>
          <p:nvPr/>
        </p:nvPicPr>
        <p:blipFill>
          <a:blip r:embed="rId2"/>
          <a:stretch>
            <a:fillRect/>
          </a:stretch>
        </p:blipFill>
        <p:spPr>
          <a:xfrm>
            <a:off x="9321800" y="927100"/>
            <a:ext cx="2006600" cy="4343400"/>
          </a:xfrm>
          <a:prstGeom prst="rect">
            <a:avLst/>
          </a:prstGeom>
        </p:spPr>
      </p:pic>
      <p:sp>
        <p:nvSpPr>
          <p:cNvPr id="20" name="Text 15"/>
          <p:cNvSpPr txBox="1"/>
          <p:nvPr/>
        </p:nvSpPr>
        <p:spPr>
          <a:xfrm>
            <a:off x="92710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Step 3 · Contacts</a:t>
            </a:r>
            <a:endParaRPr lang="en-US" sz="1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812800" y="812800"/>
            <a:ext cx="69850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MOBILE APP · HOME</a:t>
            </a:r>
            <a:endParaRPr lang="en-US" sz="1200" dirty="0"/>
          </a:p>
        </p:txBody>
      </p:sp>
      <p:sp>
        <p:nvSpPr>
          <p:cNvPr id="4" name="Text 1"/>
          <p:cNvSpPr/>
          <p:nvPr>
            <p:ph idx="101" type="title" hasCustomPrompt="1"/>
          </p:nvPr>
        </p:nvSpPr>
        <p:spPr>
          <a:xfrm>
            <a:off x="812800" y="1117600"/>
            <a:ext cx="5588000" cy="1016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One button for an emergency</a:t>
            </a:r>
            <a:endParaRPr lang="en-US" sz="3200" dirty="0"/>
          </a:p>
        </p:txBody>
      </p:sp>
      <p:sp>
        <p:nvSpPr>
          <p:cNvPr id="5" name="Text 2"/>
          <p:cNvSpPr txBox="1"/>
          <p:nvPr/>
        </p:nvSpPr>
        <p:spPr>
          <a:xfrm>
            <a:off x="812800" y="2222500"/>
            <a:ext cx="6985000" cy="8255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The home screen is built around SOS. One press sends an alert with live location straight to the HQ board.</a:t>
            </a:r>
            <a:endParaRPr lang="en-US" sz="1500" dirty="0"/>
          </a:p>
        </p:txBody>
      </p:sp>
      <p:sp>
        <p:nvSpPr>
          <p:cNvPr id="6" name="Shape 3"/>
          <p:cNvSpPr/>
          <p:nvPr/>
        </p:nvSpPr>
        <p:spPr>
          <a:xfrm>
            <a:off x="812800" y="3225800"/>
            <a:ext cx="127000" cy="127000"/>
          </a:xfrm>
          <a:prstGeom prst="ellipse">
            <a:avLst/>
          </a:prstGeom>
          <a:solidFill>
            <a:srgbClr val="C21F27"/>
          </a:solidFill>
          <a:ln w="12700">
            <a:solidFill>
              <a:srgbClr val="C21F27"/>
            </a:solidFill>
            <a:prstDash val="solid"/>
          </a:ln>
        </p:spPr>
      </p:sp>
      <p:sp>
        <p:nvSpPr>
          <p:cNvPr id="7" name="Text 4"/>
          <p:cNvSpPr txBox="1"/>
          <p:nvPr/>
        </p:nvSpPr>
        <p:spPr>
          <a:xfrm>
            <a:off x="1066800" y="3175000"/>
            <a:ext cx="6731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Silent SOS</a:t>
            </a:r>
            <a:endParaRPr lang="en-US" sz="1500" dirty="0"/>
          </a:p>
        </p:txBody>
      </p:sp>
      <p:sp>
        <p:nvSpPr>
          <p:cNvPr id="8" name="Text 5"/>
          <p:cNvSpPr txBox="1"/>
          <p:nvPr/>
        </p:nvSpPr>
        <p:spPr>
          <a:xfrm>
            <a:off x="1066800" y="3454400"/>
            <a:ext cx="6731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Hold the button to send an alert quietly, without leaving the home screen.</a:t>
            </a:r>
            <a:endParaRPr lang="en-US" sz="1400" dirty="0"/>
          </a:p>
        </p:txBody>
      </p:sp>
      <p:sp>
        <p:nvSpPr>
          <p:cNvPr id="9" name="Shape 6"/>
          <p:cNvSpPr/>
          <p:nvPr/>
        </p:nvSpPr>
        <p:spPr>
          <a:xfrm>
            <a:off x="812800" y="4089400"/>
            <a:ext cx="127000" cy="127000"/>
          </a:xfrm>
          <a:prstGeom prst="ellipse">
            <a:avLst/>
          </a:prstGeom>
          <a:solidFill>
            <a:srgbClr val="C21F27"/>
          </a:solidFill>
          <a:ln w="12700">
            <a:solidFill>
              <a:srgbClr val="C21F27"/>
            </a:solidFill>
            <a:prstDash val="solid"/>
          </a:ln>
        </p:spPr>
      </p:sp>
      <p:sp>
        <p:nvSpPr>
          <p:cNvPr id="10" name="Text 7"/>
          <p:cNvSpPr txBox="1"/>
          <p:nvPr/>
        </p:nvSpPr>
        <p:spPr>
          <a:xfrm>
            <a:off x="1066800" y="4038600"/>
            <a:ext cx="6731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Duress PIN</a:t>
            </a:r>
            <a:endParaRPr lang="en-US" sz="1500" dirty="0"/>
          </a:p>
        </p:txBody>
      </p:sp>
      <p:sp>
        <p:nvSpPr>
          <p:cNvPr id="11" name="Text 8"/>
          <p:cNvSpPr txBox="1"/>
          <p:nvPr/>
        </p:nvSpPr>
        <p:spPr>
          <a:xfrm>
            <a:off x="1066800" y="4318000"/>
            <a:ext cx="6731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A citizen cancels with their PIN. A second PIN appears to cancel, while HQ keeps tracking them.</a:t>
            </a:r>
            <a:endParaRPr lang="en-US" sz="1400" dirty="0"/>
          </a:p>
        </p:txBody>
      </p:sp>
      <p:sp>
        <p:nvSpPr>
          <p:cNvPr id="12" name="Shape 9"/>
          <p:cNvSpPr/>
          <p:nvPr/>
        </p:nvSpPr>
        <p:spPr>
          <a:xfrm>
            <a:off x="812800" y="4953000"/>
            <a:ext cx="127000" cy="127000"/>
          </a:xfrm>
          <a:prstGeom prst="ellipse">
            <a:avLst/>
          </a:prstGeom>
          <a:solidFill>
            <a:srgbClr val="C21F27"/>
          </a:solidFill>
          <a:ln w="12700">
            <a:solidFill>
              <a:srgbClr val="C21F27"/>
            </a:solidFill>
            <a:prstDash val="solid"/>
          </a:ln>
        </p:spPr>
      </p:sp>
      <p:sp>
        <p:nvSpPr>
          <p:cNvPr id="13" name="Text 10"/>
          <p:cNvSpPr txBox="1"/>
          <p:nvPr/>
        </p:nvSpPr>
        <p:spPr>
          <a:xfrm>
            <a:off x="1066800" y="4902200"/>
            <a:ext cx="6731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Shortcuts</a:t>
            </a:r>
            <a:endParaRPr lang="en-US" sz="1500" dirty="0"/>
          </a:p>
        </p:txBody>
      </p:sp>
      <p:sp>
        <p:nvSpPr>
          <p:cNvPr id="14" name="Text 11"/>
          <p:cNvSpPr txBox="1"/>
          <p:nvPr/>
        </p:nvSpPr>
        <p:spPr>
          <a:xfrm>
            <a:off x="1066800" y="5181600"/>
            <a:ext cx="6731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Safe zones and a full incident report are one tap away from the same screen.</a:t>
            </a:r>
            <a:endParaRPr lang="en-US" sz="1400" dirty="0"/>
          </a:p>
        </p:txBody>
      </p:sp>
      <p:sp>
        <p:nvSpPr>
          <p:cNvPr id="15" name="Shape 12"/>
          <p:cNvSpPr/>
          <p:nvPr/>
        </p:nvSpPr>
        <p:spPr>
          <a:xfrm>
            <a:off x="92710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6" name="Image 0" descr="Home screen with system status and the SOS button">    </p:cNvPr>
          <p:cNvPicPr>
            <a:picLocks noChangeAspect="1"/>
          </p:cNvPicPr>
          <p:nvPr/>
        </p:nvPicPr>
        <p:blipFill>
          <a:blip r:embed="rId1"/>
          <a:stretch>
            <a:fillRect/>
          </a:stretch>
        </p:blipFill>
        <p:spPr>
          <a:xfrm>
            <a:off x="9321800" y="927100"/>
            <a:ext cx="2006600" cy="4343400"/>
          </a:xfrm>
          <a:prstGeom prst="rect">
            <a:avLst/>
          </a:prstGeom>
        </p:spPr>
      </p:pic>
      <p:sp>
        <p:nvSpPr>
          <p:cNvPr id="17" name="Text 13"/>
          <p:cNvSpPr txBox="1"/>
          <p:nvPr/>
        </p:nvSpPr>
        <p:spPr>
          <a:xfrm>
            <a:off x="92710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Home · SOS</a:t>
            </a:r>
            <a:endParaRPr lang="en-US" sz="1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812800" y="812800"/>
            <a:ext cx="55880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MOBILE APP · REPORTING</a:t>
            </a:r>
            <a:endParaRPr lang="en-US" sz="1200" dirty="0"/>
          </a:p>
        </p:txBody>
      </p:sp>
      <p:sp>
        <p:nvSpPr>
          <p:cNvPr id="4" name="Text 1"/>
          <p:cNvSpPr/>
          <p:nvPr>
            <p:ph idx="101" type="title" hasCustomPrompt="1"/>
          </p:nvPr>
        </p:nvSpPr>
        <p:spPr>
          <a:xfrm>
            <a:off x="812800" y="1117600"/>
            <a:ext cx="5588000" cy="1016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Report an incident in two taps</a:t>
            </a:r>
            <a:endParaRPr lang="en-US" sz="3200" dirty="0"/>
          </a:p>
        </p:txBody>
      </p:sp>
      <p:sp>
        <p:nvSpPr>
          <p:cNvPr id="5" name="Text 2"/>
          <p:cNvSpPr txBox="1"/>
          <p:nvPr/>
        </p:nvSpPr>
        <p:spPr>
          <a:xfrm>
            <a:off x="812800" y="2222500"/>
            <a:ext cx="5588000" cy="8255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For anything that is not an SOS, a citizen picks what is happening. Their location is attached automatically.</a:t>
            </a:r>
            <a:endParaRPr lang="en-US" sz="1500" dirty="0"/>
          </a:p>
        </p:txBody>
      </p:sp>
      <p:sp>
        <p:nvSpPr>
          <p:cNvPr id="6" name="Shape 3"/>
          <p:cNvSpPr/>
          <p:nvPr/>
        </p:nvSpPr>
        <p:spPr>
          <a:xfrm>
            <a:off x="812800" y="3225800"/>
            <a:ext cx="127000" cy="127000"/>
          </a:xfrm>
          <a:prstGeom prst="ellipse">
            <a:avLst/>
          </a:prstGeom>
          <a:solidFill>
            <a:srgbClr val="C21F27"/>
          </a:solidFill>
          <a:ln w="12700">
            <a:solidFill>
              <a:srgbClr val="C21F27"/>
            </a:solidFill>
            <a:prstDash val="solid"/>
          </a:ln>
        </p:spPr>
      </p:sp>
      <p:sp>
        <p:nvSpPr>
          <p:cNvPr id="7" name="Text 4"/>
          <p:cNvSpPr txBox="1"/>
          <p:nvPr/>
        </p:nvSpPr>
        <p:spPr>
          <a:xfrm>
            <a:off x="1066800" y="31750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Choose a category</a:t>
            </a:r>
            <a:endParaRPr lang="en-US" sz="1500" dirty="0"/>
          </a:p>
        </p:txBody>
      </p:sp>
      <p:sp>
        <p:nvSpPr>
          <p:cNvPr id="8" name="Text 5"/>
          <p:cNvSpPr txBox="1"/>
          <p:nvPr/>
        </p:nvSpPr>
        <p:spPr>
          <a:xfrm>
            <a:off x="1066800" y="34544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Kidnap, fire, drug abuse, flood and more, each with its own subtypes.</a:t>
            </a:r>
            <a:endParaRPr lang="en-US" sz="1400" dirty="0"/>
          </a:p>
        </p:txBody>
      </p:sp>
      <p:sp>
        <p:nvSpPr>
          <p:cNvPr id="9" name="Shape 6"/>
          <p:cNvSpPr/>
          <p:nvPr/>
        </p:nvSpPr>
        <p:spPr>
          <a:xfrm>
            <a:off x="812800" y="4089400"/>
            <a:ext cx="127000" cy="127000"/>
          </a:xfrm>
          <a:prstGeom prst="ellipse">
            <a:avLst/>
          </a:prstGeom>
          <a:solidFill>
            <a:srgbClr val="C21F27"/>
          </a:solidFill>
          <a:ln w="12700">
            <a:solidFill>
              <a:srgbClr val="C21F27"/>
            </a:solidFill>
            <a:prstDash val="solid"/>
          </a:ln>
        </p:spPr>
      </p:sp>
      <p:sp>
        <p:nvSpPr>
          <p:cNvPr id="10" name="Text 7"/>
          <p:cNvSpPr txBox="1"/>
          <p:nvPr/>
        </p:nvSpPr>
        <p:spPr>
          <a:xfrm>
            <a:off x="1066800" y="40386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Choose the incident type</a:t>
            </a:r>
            <a:endParaRPr lang="en-US" sz="1500" dirty="0"/>
          </a:p>
        </p:txBody>
      </p:sp>
      <p:sp>
        <p:nvSpPr>
          <p:cNvPr id="11" name="Text 8"/>
          <p:cNvSpPr txBox="1"/>
          <p:nvPr/>
        </p:nvSpPr>
        <p:spPr>
          <a:xfrm>
            <a:off x="1066800" y="43180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For example, a flood is a flash flood, blocked drainage or submerged property.</a:t>
            </a:r>
            <a:endParaRPr lang="en-US" sz="1400" dirty="0"/>
          </a:p>
        </p:txBody>
      </p:sp>
      <p:sp>
        <p:nvSpPr>
          <p:cNvPr id="12" name="Shape 9"/>
          <p:cNvSpPr/>
          <p:nvPr/>
        </p:nvSpPr>
        <p:spPr>
          <a:xfrm>
            <a:off x="69088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3" name="Image 0" descr="Incident categories: kidnap, fire, drug abuse">    </p:cNvPr>
          <p:cNvPicPr>
            <a:picLocks noChangeAspect="1"/>
          </p:cNvPicPr>
          <p:nvPr/>
        </p:nvPicPr>
        <p:blipFill>
          <a:blip r:embed="rId1"/>
          <a:stretch>
            <a:fillRect/>
          </a:stretch>
        </p:blipFill>
        <p:spPr>
          <a:xfrm>
            <a:off x="6959600" y="927100"/>
            <a:ext cx="2006600" cy="4343400"/>
          </a:xfrm>
          <a:prstGeom prst="rect">
            <a:avLst/>
          </a:prstGeom>
        </p:spPr>
      </p:pic>
      <p:sp>
        <p:nvSpPr>
          <p:cNvPr id="14" name="Text 10"/>
          <p:cNvSpPr txBox="1"/>
          <p:nvPr/>
        </p:nvSpPr>
        <p:spPr>
          <a:xfrm>
            <a:off x="69088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Category</a:t>
            </a:r>
            <a:endParaRPr lang="en-US" sz="1200" dirty="0"/>
          </a:p>
        </p:txBody>
      </p:sp>
      <p:sp>
        <p:nvSpPr>
          <p:cNvPr id="15" name="Shape 11"/>
          <p:cNvSpPr/>
          <p:nvPr/>
        </p:nvSpPr>
        <p:spPr>
          <a:xfrm>
            <a:off x="92710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6" name="Image 1" descr="Incident types for the flood category">    </p:cNvPr>
          <p:cNvPicPr>
            <a:picLocks noChangeAspect="1"/>
          </p:cNvPicPr>
          <p:nvPr/>
        </p:nvPicPr>
        <p:blipFill>
          <a:blip r:embed="rId2"/>
          <a:stretch>
            <a:fillRect/>
          </a:stretch>
        </p:blipFill>
        <p:spPr>
          <a:xfrm>
            <a:off x="9321800" y="927100"/>
            <a:ext cx="2006600" cy="4343400"/>
          </a:xfrm>
          <a:prstGeom prst="rect">
            <a:avLst/>
          </a:prstGeom>
        </p:spPr>
      </p:pic>
      <p:sp>
        <p:nvSpPr>
          <p:cNvPr id="17" name="Text 12"/>
          <p:cNvSpPr txBox="1"/>
          <p:nvPr/>
        </p:nvSpPr>
        <p:spPr>
          <a:xfrm>
            <a:off x="92710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Incident type</a:t>
            </a:r>
            <a:endParaRPr lang="en-US" sz="1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812800" y="812800"/>
            <a:ext cx="55880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MOBILE APP · REPORTING</a:t>
            </a:r>
            <a:endParaRPr lang="en-US" sz="1200" dirty="0"/>
          </a:p>
        </p:txBody>
      </p:sp>
      <p:sp>
        <p:nvSpPr>
          <p:cNvPr id="4" name="Text 1"/>
          <p:cNvSpPr/>
          <p:nvPr>
            <p:ph idx="101" type="title" hasCustomPrompt="1"/>
          </p:nvPr>
        </p:nvSpPr>
        <p:spPr>
          <a:xfrm>
            <a:off x="812800" y="1117600"/>
            <a:ext cx="5588000" cy="1016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Add detail, evidence and location</a:t>
            </a:r>
            <a:endParaRPr lang="en-US" sz="3200" dirty="0"/>
          </a:p>
        </p:txBody>
      </p:sp>
      <p:sp>
        <p:nvSpPr>
          <p:cNvPr id="5" name="Text 2"/>
          <p:cNvSpPr txBox="1"/>
          <p:nvPr/>
        </p:nvSpPr>
        <p:spPr>
          <a:xfrm>
            <a:off x="812800" y="2222500"/>
            <a:ext cx="5588000" cy="8255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The report form collects what responders need, then sends it over an encrypted connection.</a:t>
            </a:r>
            <a:endParaRPr lang="en-US" sz="1500" dirty="0"/>
          </a:p>
        </p:txBody>
      </p:sp>
      <p:sp>
        <p:nvSpPr>
          <p:cNvPr id="6" name="Shape 3"/>
          <p:cNvSpPr/>
          <p:nvPr/>
        </p:nvSpPr>
        <p:spPr>
          <a:xfrm>
            <a:off x="812800" y="3225800"/>
            <a:ext cx="127000" cy="127000"/>
          </a:xfrm>
          <a:prstGeom prst="ellipse">
            <a:avLst/>
          </a:prstGeom>
          <a:solidFill>
            <a:srgbClr val="C21F27"/>
          </a:solidFill>
          <a:ln w="12700">
            <a:solidFill>
              <a:srgbClr val="C21F27"/>
            </a:solidFill>
            <a:prstDash val="solid"/>
          </a:ln>
        </p:spPr>
      </p:sp>
      <p:sp>
        <p:nvSpPr>
          <p:cNvPr id="7" name="Text 4"/>
          <p:cNvSpPr txBox="1"/>
          <p:nvPr/>
        </p:nvSpPr>
        <p:spPr>
          <a:xfrm>
            <a:off x="1066800" y="31750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Description and media</a:t>
            </a:r>
            <a:endParaRPr lang="en-US" sz="1500" dirty="0"/>
          </a:p>
        </p:txBody>
      </p:sp>
      <p:sp>
        <p:nvSpPr>
          <p:cNvPr id="8" name="Text 5"/>
          <p:cNvSpPr txBox="1"/>
          <p:nvPr/>
        </p:nvSpPr>
        <p:spPr>
          <a:xfrm>
            <a:off x="1066800" y="34544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A written account plus photos or video taken on the spot or chosen from the gallery.</a:t>
            </a:r>
            <a:endParaRPr lang="en-US" sz="1400" dirty="0"/>
          </a:p>
        </p:txBody>
      </p:sp>
      <p:sp>
        <p:nvSpPr>
          <p:cNvPr id="9" name="Shape 6"/>
          <p:cNvSpPr/>
          <p:nvPr/>
        </p:nvSpPr>
        <p:spPr>
          <a:xfrm>
            <a:off x="812800" y="4089400"/>
            <a:ext cx="127000" cy="127000"/>
          </a:xfrm>
          <a:prstGeom prst="ellipse">
            <a:avLst/>
          </a:prstGeom>
          <a:solidFill>
            <a:srgbClr val="C21F27"/>
          </a:solidFill>
          <a:ln w="12700">
            <a:solidFill>
              <a:srgbClr val="C21F27"/>
            </a:solidFill>
            <a:prstDash val="solid"/>
          </a:ln>
        </p:spPr>
      </p:sp>
      <p:sp>
        <p:nvSpPr>
          <p:cNvPr id="10" name="Text 7"/>
          <p:cNvSpPr txBox="1"/>
          <p:nvPr/>
        </p:nvSpPr>
        <p:spPr>
          <a:xfrm>
            <a:off x="1066800" y="40386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GPS or manual location</a:t>
            </a:r>
            <a:endParaRPr lang="en-US" sz="1500" dirty="0"/>
          </a:p>
        </p:txBody>
      </p:sp>
      <p:sp>
        <p:nvSpPr>
          <p:cNvPr id="11" name="Text 8"/>
          <p:cNvSpPr txBox="1"/>
          <p:nvPr/>
        </p:nvSpPr>
        <p:spPr>
          <a:xfrm>
            <a:off x="1066800" y="43180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The phone's position is used by default; the location can be typed if the signal is weak.</a:t>
            </a:r>
            <a:endParaRPr lang="en-US" sz="1400" dirty="0"/>
          </a:p>
        </p:txBody>
      </p:sp>
      <p:sp>
        <p:nvSpPr>
          <p:cNvPr id="12" name="Shape 9"/>
          <p:cNvSpPr/>
          <p:nvPr/>
        </p:nvSpPr>
        <p:spPr>
          <a:xfrm>
            <a:off x="812800" y="4953000"/>
            <a:ext cx="127000" cy="127000"/>
          </a:xfrm>
          <a:prstGeom prst="ellipse">
            <a:avLst/>
          </a:prstGeom>
          <a:solidFill>
            <a:srgbClr val="C21F27"/>
          </a:solidFill>
          <a:ln w="12700">
            <a:solidFill>
              <a:srgbClr val="C21F27"/>
            </a:solidFill>
            <a:prstDash val="solid"/>
          </a:ln>
        </p:spPr>
      </p:sp>
      <p:sp>
        <p:nvSpPr>
          <p:cNvPr id="13" name="Text 10"/>
          <p:cNvSpPr txBox="1"/>
          <p:nvPr/>
        </p:nvSpPr>
        <p:spPr>
          <a:xfrm>
            <a:off x="1066800" y="49022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Stealth mode</a:t>
            </a:r>
            <a:endParaRPr lang="en-US" sz="1500" dirty="0"/>
          </a:p>
        </p:txBody>
      </p:sp>
      <p:sp>
        <p:nvSpPr>
          <p:cNvPr id="14" name="Text 11"/>
          <p:cNvSpPr txBox="1"/>
          <p:nvPr/>
        </p:nvSpPr>
        <p:spPr>
          <a:xfrm>
            <a:off x="1066800" y="51816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Protects the identity of a reporter who does not want to be named.</a:t>
            </a:r>
            <a:endParaRPr lang="en-US" sz="1400" dirty="0"/>
          </a:p>
        </p:txBody>
      </p:sp>
      <p:sp>
        <p:nvSpPr>
          <p:cNvPr id="15" name="Shape 12"/>
          <p:cNvSpPr/>
          <p:nvPr/>
        </p:nvSpPr>
        <p:spPr>
          <a:xfrm>
            <a:off x="69088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6" name="Image 0" descr="Report form with narrative and photo and video buttons">    </p:cNvPr>
          <p:cNvPicPr>
            <a:picLocks noChangeAspect="1"/>
          </p:cNvPicPr>
          <p:nvPr/>
        </p:nvPicPr>
        <p:blipFill>
          <a:blip r:embed="rId1"/>
          <a:stretch>
            <a:fillRect/>
          </a:stretch>
        </p:blipFill>
        <p:spPr>
          <a:xfrm>
            <a:off x="6959600" y="927100"/>
            <a:ext cx="2006600" cy="4343400"/>
          </a:xfrm>
          <a:prstGeom prst="rect">
            <a:avLst/>
          </a:prstGeom>
        </p:spPr>
      </p:pic>
      <p:sp>
        <p:nvSpPr>
          <p:cNvPr id="17" name="Text 13"/>
          <p:cNvSpPr txBox="1"/>
          <p:nvPr/>
        </p:nvSpPr>
        <p:spPr>
          <a:xfrm>
            <a:off x="69088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Description · media</a:t>
            </a:r>
            <a:endParaRPr lang="en-US" sz="1200" dirty="0"/>
          </a:p>
        </p:txBody>
      </p:sp>
      <p:sp>
        <p:nvSpPr>
          <p:cNvPr id="18" name="Shape 14"/>
          <p:cNvSpPr/>
          <p:nvPr/>
        </p:nvSpPr>
        <p:spPr>
          <a:xfrm>
            <a:off x="92710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9" name="Image 1" descr="Report form with GPS, manual location and stealth mode toggles">    </p:cNvPr>
          <p:cNvPicPr>
            <a:picLocks noChangeAspect="1"/>
          </p:cNvPicPr>
          <p:nvPr/>
        </p:nvPicPr>
        <p:blipFill>
          <a:blip r:embed="rId2"/>
          <a:stretch>
            <a:fillRect/>
          </a:stretch>
        </p:blipFill>
        <p:spPr>
          <a:xfrm>
            <a:off x="9321800" y="927100"/>
            <a:ext cx="2006600" cy="4343400"/>
          </a:xfrm>
          <a:prstGeom prst="rect">
            <a:avLst/>
          </a:prstGeom>
        </p:spPr>
      </p:pic>
      <p:sp>
        <p:nvSpPr>
          <p:cNvPr id="20" name="Text 15"/>
          <p:cNvSpPr txBox="1"/>
          <p:nvPr/>
        </p:nvSpPr>
        <p:spPr>
          <a:xfrm>
            <a:off x="92710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Location · send</a:t>
            </a:r>
            <a:endParaRPr lang="en-US" sz="1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812800" y="812800"/>
            <a:ext cx="55880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MOBILE APP · STAYING SAFE</a:t>
            </a:r>
            <a:endParaRPr lang="en-US" sz="1200" dirty="0"/>
          </a:p>
        </p:txBody>
      </p:sp>
      <p:sp>
        <p:nvSpPr>
          <p:cNvPr id="4" name="Text 1"/>
          <p:cNvSpPr/>
          <p:nvPr>
            <p:ph idx="101" type="title" hasCustomPrompt="1"/>
          </p:nvPr>
        </p:nvSpPr>
        <p:spPr>
          <a:xfrm>
            <a:off x="812800" y="1117600"/>
            <a:ext cx="5588000" cy="1016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Safe zones and live tracking</a:t>
            </a:r>
            <a:endParaRPr lang="en-US" sz="3200" dirty="0"/>
          </a:p>
        </p:txBody>
      </p:sp>
      <p:sp>
        <p:nvSpPr>
          <p:cNvPr id="5" name="Text 2"/>
          <p:cNvSpPr txBox="1"/>
          <p:nvPr/>
        </p:nvSpPr>
        <p:spPr>
          <a:xfrm>
            <a:off x="812800" y="2222500"/>
            <a:ext cx="5588000" cy="8255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Two tools for the minutes before help arrives.</a:t>
            </a:r>
            <a:endParaRPr lang="en-US" sz="1500" dirty="0"/>
          </a:p>
        </p:txBody>
      </p:sp>
      <p:sp>
        <p:nvSpPr>
          <p:cNvPr id="6" name="Shape 3"/>
          <p:cNvSpPr/>
          <p:nvPr/>
        </p:nvSpPr>
        <p:spPr>
          <a:xfrm>
            <a:off x="812800" y="3225800"/>
            <a:ext cx="127000" cy="127000"/>
          </a:xfrm>
          <a:prstGeom prst="ellipse">
            <a:avLst/>
          </a:prstGeom>
          <a:solidFill>
            <a:srgbClr val="C21F27"/>
          </a:solidFill>
          <a:ln w="12700">
            <a:solidFill>
              <a:srgbClr val="C21F27"/>
            </a:solidFill>
            <a:prstDash val="solid"/>
          </a:ln>
        </p:spPr>
      </p:sp>
      <p:sp>
        <p:nvSpPr>
          <p:cNvPr id="7" name="Text 4"/>
          <p:cNvSpPr txBox="1"/>
          <p:nvPr/>
        </p:nvSpPr>
        <p:spPr>
          <a:xfrm>
            <a:off x="1066800" y="31750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Safe-zone routing</a:t>
            </a:r>
            <a:endParaRPr lang="en-US" sz="1500" dirty="0"/>
          </a:p>
        </p:txBody>
      </p:sp>
      <p:sp>
        <p:nvSpPr>
          <p:cNvPr id="8" name="Text 5"/>
          <p:cNvSpPr txBox="1"/>
          <p:nvPr/>
        </p:nvSpPr>
        <p:spPr>
          <a:xfrm>
            <a:off x="1066800" y="34544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A map of secured locations, with directions to the nearest one guarded by security units.</a:t>
            </a:r>
            <a:endParaRPr lang="en-US" sz="1400" dirty="0"/>
          </a:p>
        </p:txBody>
      </p:sp>
      <p:sp>
        <p:nvSpPr>
          <p:cNvPr id="9" name="Shape 6"/>
          <p:cNvSpPr/>
          <p:nvPr/>
        </p:nvSpPr>
        <p:spPr>
          <a:xfrm>
            <a:off x="812800" y="4089400"/>
            <a:ext cx="127000" cy="127000"/>
          </a:xfrm>
          <a:prstGeom prst="ellipse">
            <a:avLst/>
          </a:prstGeom>
          <a:solidFill>
            <a:srgbClr val="C21F27"/>
          </a:solidFill>
          <a:ln w="12700">
            <a:solidFill>
              <a:srgbClr val="C21F27"/>
            </a:solidFill>
            <a:prstDash val="solid"/>
          </a:ln>
        </p:spPr>
      </p:sp>
      <p:sp>
        <p:nvSpPr>
          <p:cNvPr id="10" name="Text 7"/>
          <p:cNvSpPr txBox="1"/>
          <p:nvPr/>
        </p:nvSpPr>
        <p:spPr>
          <a:xfrm>
            <a:off x="1066800" y="40386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Movement tracking</a:t>
            </a:r>
            <a:endParaRPr lang="en-US" sz="1500" dirty="0"/>
          </a:p>
        </p:txBody>
      </p:sp>
      <p:sp>
        <p:nvSpPr>
          <p:cNvPr id="11" name="Text 8"/>
          <p:cNvSpPr txBox="1"/>
          <p:nvPr/>
        </p:nvSpPr>
        <p:spPr>
          <a:xfrm>
            <a:off x="1066800" y="43180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The person's position streams to HQ while tracking is on, and can be paused.</a:t>
            </a:r>
            <a:endParaRPr lang="en-US" sz="1400" dirty="0"/>
          </a:p>
        </p:txBody>
      </p:sp>
      <p:sp>
        <p:nvSpPr>
          <p:cNvPr id="12" name="Shape 9"/>
          <p:cNvSpPr/>
          <p:nvPr/>
        </p:nvSpPr>
        <p:spPr>
          <a:xfrm>
            <a:off x="812800" y="4953000"/>
            <a:ext cx="127000" cy="127000"/>
          </a:xfrm>
          <a:prstGeom prst="ellipse">
            <a:avLst/>
          </a:prstGeom>
          <a:solidFill>
            <a:srgbClr val="C21F27"/>
          </a:solidFill>
          <a:ln w="12700">
            <a:solidFill>
              <a:srgbClr val="C21F27"/>
            </a:solidFill>
            <a:prstDash val="solid"/>
          </a:ln>
        </p:spPr>
      </p:sp>
      <p:sp>
        <p:nvSpPr>
          <p:cNvPr id="13" name="Text 10"/>
          <p:cNvSpPr txBox="1"/>
          <p:nvPr/>
        </p:nvSpPr>
        <p:spPr>
          <a:xfrm>
            <a:off x="1066800" y="4902200"/>
            <a:ext cx="5334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Share a live link</a:t>
            </a:r>
            <a:endParaRPr lang="en-US" sz="1500" dirty="0"/>
          </a:p>
        </p:txBody>
      </p:sp>
      <p:sp>
        <p:nvSpPr>
          <p:cNvPr id="14" name="Text 11"/>
          <p:cNvSpPr txBox="1"/>
          <p:nvPr/>
        </p:nvSpPr>
        <p:spPr>
          <a:xfrm>
            <a:off x="1066800" y="5181600"/>
            <a:ext cx="5334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Family or friends can follow the journey from a link the person shares.</a:t>
            </a:r>
            <a:endParaRPr lang="en-US" sz="1400" dirty="0"/>
          </a:p>
        </p:txBody>
      </p:sp>
      <p:sp>
        <p:nvSpPr>
          <p:cNvPr id="15" name="Shape 12"/>
          <p:cNvSpPr/>
          <p:nvPr/>
        </p:nvSpPr>
        <p:spPr>
          <a:xfrm>
            <a:off x="69088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6" name="Image 0" descr="Safe-zone routing map">    </p:cNvPr>
          <p:cNvPicPr>
            <a:picLocks noChangeAspect="1"/>
          </p:cNvPicPr>
          <p:nvPr/>
        </p:nvPicPr>
        <p:blipFill>
          <a:blip r:embed="rId1"/>
          <a:stretch>
            <a:fillRect/>
          </a:stretch>
        </p:blipFill>
        <p:spPr>
          <a:xfrm>
            <a:off x="6959600" y="927100"/>
            <a:ext cx="2006600" cy="4343400"/>
          </a:xfrm>
          <a:prstGeom prst="rect">
            <a:avLst/>
          </a:prstGeom>
        </p:spPr>
      </p:pic>
      <p:sp>
        <p:nvSpPr>
          <p:cNvPr id="17" name="Text 13"/>
          <p:cNvSpPr txBox="1"/>
          <p:nvPr/>
        </p:nvSpPr>
        <p:spPr>
          <a:xfrm>
            <a:off x="69088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Safe zones</a:t>
            </a:r>
            <a:endParaRPr lang="en-US" sz="1200" dirty="0"/>
          </a:p>
        </p:txBody>
      </p:sp>
      <p:sp>
        <p:nvSpPr>
          <p:cNvPr id="18" name="Shape 14"/>
          <p:cNvSpPr/>
          <p:nvPr/>
        </p:nvSpPr>
        <p:spPr>
          <a:xfrm>
            <a:off x="9271000" y="812800"/>
            <a:ext cx="2108200" cy="4572000"/>
          </a:xfrm>
          <a:prstGeom prst="roundRect">
            <a:avLst>
              <a:gd name="adj" fmla="val 9542"/>
            </a:avLst>
          </a:prstGeom>
          <a:solidFill>
            <a:srgbClr val="FFFFFF"/>
          </a:solidFill>
          <a:ln w="12700">
            <a:solidFill>
              <a:srgbClr val="D9D2C9"/>
            </a:solidFill>
            <a:prstDash val="solid"/>
          </a:ln>
          <a:effectLst>
            <a:outerShdw sx="100000" sy="100000" kx="0" ky="0" algn="bl" rotWithShape="0" blurRad="152400" dist="76200" dir="5400000">
              <a:srgbClr val="1B1D22">
                <a:alpha val="18000"/>
              </a:srgbClr>
            </a:outerShdw>
          </a:effectLst>
        </p:spPr>
      </p:sp>
      <p:pic>
        <p:nvPicPr>
          <p:cNvPr id="19" name="Image 1" descr="Movement tracking with Share Live Link and Pause Tracking">    </p:cNvPr>
          <p:cNvPicPr>
            <a:picLocks noChangeAspect="1"/>
          </p:cNvPicPr>
          <p:nvPr/>
        </p:nvPicPr>
        <p:blipFill>
          <a:blip r:embed="rId2"/>
          <a:stretch>
            <a:fillRect/>
          </a:stretch>
        </p:blipFill>
        <p:spPr>
          <a:xfrm>
            <a:off x="9321800" y="927100"/>
            <a:ext cx="2006600" cy="4343400"/>
          </a:xfrm>
          <a:prstGeom prst="rect">
            <a:avLst/>
          </a:prstGeom>
        </p:spPr>
      </p:pic>
      <p:sp>
        <p:nvSpPr>
          <p:cNvPr id="20" name="Text 15"/>
          <p:cNvSpPr txBox="1"/>
          <p:nvPr/>
        </p:nvSpPr>
        <p:spPr>
          <a:xfrm>
            <a:off x="9271000" y="5473700"/>
            <a:ext cx="2108200" cy="228600"/>
          </a:xfrm>
          <a:prstGeom prst="rect">
            <a:avLst/>
          </a:prstGeom>
          <a:noFill/>
          <a:ln/>
        </p:spPr>
        <p:txBody>
          <a:bodyPr wrap="square" lIns="0" tIns="0" rIns="0" bIns="0" rtlCol="0" anchor="t"/>
          <a:lstStyle/>
          <a:p>
            <a:pPr algn="ctr" indent="0" marL="0">
              <a:buNone/>
            </a:pPr>
            <a:r>
              <a:rPr lang="en-US" sz="1200" dirty="0">
                <a:solidFill>
                  <a:srgbClr val="5A5F67"/>
                </a:solidFill>
                <a:latin typeface="Arial" pitchFamily="34" charset="0"/>
                <a:ea typeface="Arial" pitchFamily="34" charset="-122"/>
                <a:cs typeface="Arial" pitchFamily="34" charset="-120"/>
              </a:rPr>
              <a:t>Movement</a:t>
            </a:r>
            <a:endParaRPr lang="en-US" sz="12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F07A7F"/>
                </a:solidFill>
                <a:latin typeface="Arial" pitchFamily="34" charset="0"/>
                <a:ea typeface="Arial" pitchFamily="34" charset="-122"/>
                <a:cs typeface="Arial" pitchFamily="34" charset="-120"/>
              </a:rPr>
              <a:t>MOBILE APP · NO DATA NETWORK</a:t>
            </a:r>
            <a:endParaRPr lang="en-US" sz="1200" dirty="0"/>
          </a:p>
        </p:txBody>
      </p:sp>
      <p:sp>
        <p:nvSpPr>
          <p:cNvPr id="4" name="Text 1"/>
          <p:cNvSpPr/>
          <p:nvPr>
            <p:ph idx="101"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F6F3EF"/>
                </a:solidFill>
                <a:latin typeface="Arial" pitchFamily="34" charset="0"/>
                <a:ea typeface="Arial" pitchFamily="34" charset="-122"/>
                <a:cs typeface="Arial" pitchFamily="34" charset="-120"/>
              </a:rPr>
              <a:t>An alert still gets through when data is down</a:t>
            </a:r>
            <a:endParaRPr lang="en-US" sz="3200" dirty="0"/>
          </a:p>
        </p:txBody>
      </p:sp>
      <p:sp>
        <p:nvSpPr>
          <p:cNvPr id="5" name="Shape 2"/>
          <p:cNvSpPr/>
          <p:nvPr/>
        </p:nvSpPr>
        <p:spPr>
          <a:xfrm>
            <a:off x="812800" y="2413000"/>
            <a:ext cx="3384550" cy="2921000"/>
          </a:xfrm>
          <a:prstGeom prst="roundRect">
            <a:avLst>
              <a:gd name="adj" fmla="val 3757"/>
            </a:avLst>
          </a:prstGeom>
          <a:solidFill>
            <a:srgbClr val="262931"/>
          </a:solidFill>
          <a:ln w="12700">
            <a:solidFill>
              <a:srgbClr val="3A3D45"/>
            </a:solidFill>
            <a:prstDash val="solid"/>
          </a:ln>
        </p:spPr>
      </p:sp>
      <p:sp>
        <p:nvSpPr>
          <p:cNvPr id="6" name="Shape 3"/>
          <p:cNvSpPr/>
          <p:nvPr/>
        </p:nvSpPr>
        <p:spPr>
          <a:xfrm>
            <a:off x="1066800" y="2667000"/>
            <a:ext cx="355600" cy="355600"/>
          </a:xfrm>
          <a:prstGeom prst="ellipse">
            <a:avLst/>
          </a:prstGeom>
          <a:solidFill>
            <a:srgbClr val="F07A7F"/>
          </a:solidFill>
          <a:ln w="12700">
            <a:solidFill>
              <a:srgbClr val="F07A7F"/>
            </a:solidFill>
            <a:prstDash val="solid"/>
          </a:ln>
        </p:spPr>
      </p:sp>
      <p:sp>
        <p:nvSpPr>
          <p:cNvPr id="7" name="Text 4"/>
          <p:cNvSpPr txBox="1"/>
          <p:nvPr/>
        </p:nvSpPr>
        <p:spPr>
          <a:xfrm>
            <a:off x="1066800" y="2667000"/>
            <a:ext cx="355600" cy="355600"/>
          </a:xfrm>
          <a:prstGeom prst="rect">
            <a:avLst/>
          </a:prstGeom>
          <a:noFill/>
          <a:ln/>
        </p:spPr>
        <p:txBody>
          <a:bodyPr wrap="square" lIns="0" tIns="0" rIns="0" bIns="0" rtlCol="0" anchor="ctr"/>
          <a:lstStyle/>
          <a:p>
            <a:pPr algn="ctr" indent="0" marL="0">
              <a:buNone/>
            </a:pPr>
            <a:r>
              <a:rPr lang="en-US" sz="1600" b="1" dirty="0">
                <a:solidFill>
                  <a:srgbClr val="1B1D22"/>
                </a:solidFill>
                <a:latin typeface="Arial" pitchFamily="34" charset="0"/>
                <a:ea typeface="Arial" pitchFamily="34" charset="-122"/>
                <a:cs typeface="Arial" pitchFamily="34" charset="-120"/>
              </a:rPr>
              <a:t>1</a:t>
            </a:r>
            <a:endParaRPr lang="en-US" sz="1600" dirty="0"/>
          </a:p>
        </p:txBody>
      </p:sp>
      <p:sp>
        <p:nvSpPr>
          <p:cNvPr id="8" name="Text 5"/>
          <p:cNvSpPr txBox="1"/>
          <p:nvPr/>
        </p:nvSpPr>
        <p:spPr>
          <a:xfrm>
            <a:off x="1066800" y="3200400"/>
            <a:ext cx="2876550" cy="317500"/>
          </a:xfrm>
          <a:prstGeom prst="rect">
            <a:avLst/>
          </a:prstGeom>
          <a:noFill/>
          <a:ln/>
        </p:spPr>
        <p:txBody>
          <a:bodyPr wrap="square" lIns="0" tIns="0" rIns="0" bIns="0" rtlCol="0" anchor="t"/>
          <a:lstStyle/>
          <a:p>
            <a:pPr indent="0" marL="0">
              <a:buNone/>
            </a:pPr>
            <a:r>
              <a:rPr lang="en-US" sz="1800" b="1" dirty="0">
                <a:solidFill>
                  <a:srgbClr val="F6F3EF"/>
                </a:solidFill>
                <a:latin typeface="Arial" pitchFamily="34" charset="0"/>
                <a:ea typeface="Arial" pitchFamily="34" charset="-122"/>
                <a:cs typeface="Arial" pitchFamily="34" charset="-120"/>
              </a:rPr>
              <a:t>SMS fallback</a:t>
            </a:r>
            <a:endParaRPr lang="en-US" sz="1800" dirty="0"/>
          </a:p>
        </p:txBody>
      </p:sp>
      <p:sp>
        <p:nvSpPr>
          <p:cNvPr id="9" name="Text 6"/>
          <p:cNvSpPr txBox="1"/>
          <p:nvPr/>
        </p:nvSpPr>
        <p:spPr>
          <a:xfrm>
            <a:off x="1066800" y="3594100"/>
            <a:ext cx="2876550" cy="1524000"/>
          </a:xfrm>
          <a:prstGeom prst="rect">
            <a:avLst/>
          </a:prstGeom>
          <a:noFill/>
          <a:ln/>
        </p:spPr>
        <p:txBody>
          <a:bodyPr wrap="square" lIns="0" tIns="0" rIns="0" bIns="0" rtlCol="0" anchor="t"/>
          <a:lstStyle/>
          <a:p>
            <a:pPr indent="0" marL="0">
              <a:lnSpc>
                <a:spcPct val="120000"/>
              </a:lnSpc>
              <a:buNone/>
            </a:pPr>
            <a:r>
              <a:rPr lang="en-US" sz="1400" dirty="0">
                <a:solidFill>
                  <a:srgbClr val="C9C4BD"/>
                </a:solidFill>
                <a:latin typeface="Arial" pitchFamily="34" charset="0"/>
                <a:ea typeface="Arial" pitchFamily="34" charset="-122"/>
                <a:cs typeface="Arial" pitchFamily="34" charset="-120"/>
              </a:rPr>
              <a:t>With no data, the app sends the alert as an encrypted SMS. HQ checks each message against the sending phone's key.</a:t>
            </a:r>
            <a:endParaRPr lang="en-US" sz="1400" dirty="0"/>
          </a:p>
        </p:txBody>
      </p:sp>
      <p:sp>
        <p:nvSpPr>
          <p:cNvPr id="10" name="Shape 7"/>
          <p:cNvSpPr/>
          <p:nvPr/>
        </p:nvSpPr>
        <p:spPr>
          <a:xfrm>
            <a:off x="4400550" y="2413000"/>
            <a:ext cx="3384550" cy="2921000"/>
          </a:xfrm>
          <a:prstGeom prst="roundRect">
            <a:avLst>
              <a:gd name="adj" fmla="val 3757"/>
            </a:avLst>
          </a:prstGeom>
          <a:solidFill>
            <a:srgbClr val="262931"/>
          </a:solidFill>
          <a:ln w="12700">
            <a:solidFill>
              <a:srgbClr val="3A3D45"/>
            </a:solidFill>
            <a:prstDash val="solid"/>
          </a:ln>
        </p:spPr>
      </p:sp>
      <p:sp>
        <p:nvSpPr>
          <p:cNvPr id="11" name="Shape 8"/>
          <p:cNvSpPr/>
          <p:nvPr/>
        </p:nvSpPr>
        <p:spPr>
          <a:xfrm>
            <a:off x="4654550" y="2667000"/>
            <a:ext cx="355600" cy="355600"/>
          </a:xfrm>
          <a:prstGeom prst="ellipse">
            <a:avLst/>
          </a:prstGeom>
          <a:solidFill>
            <a:srgbClr val="F07A7F"/>
          </a:solidFill>
          <a:ln w="12700">
            <a:solidFill>
              <a:srgbClr val="F07A7F"/>
            </a:solidFill>
            <a:prstDash val="solid"/>
          </a:ln>
        </p:spPr>
      </p:sp>
      <p:sp>
        <p:nvSpPr>
          <p:cNvPr id="12" name="Text 9"/>
          <p:cNvSpPr txBox="1"/>
          <p:nvPr/>
        </p:nvSpPr>
        <p:spPr>
          <a:xfrm>
            <a:off x="4654550" y="2667000"/>
            <a:ext cx="355600" cy="355600"/>
          </a:xfrm>
          <a:prstGeom prst="rect">
            <a:avLst/>
          </a:prstGeom>
          <a:noFill/>
          <a:ln/>
        </p:spPr>
        <p:txBody>
          <a:bodyPr wrap="square" lIns="0" tIns="0" rIns="0" bIns="0" rtlCol="0" anchor="ctr"/>
          <a:lstStyle/>
          <a:p>
            <a:pPr algn="ctr" indent="0" marL="0">
              <a:buNone/>
            </a:pPr>
            <a:r>
              <a:rPr lang="en-US" sz="1600" b="1" dirty="0">
                <a:solidFill>
                  <a:srgbClr val="1B1D22"/>
                </a:solidFill>
                <a:latin typeface="Arial" pitchFamily="34" charset="0"/>
                <a:ea typeface="Arial" pitchFamily="34" charset="-122"/>
                <a:cs typeface="Arial" pitchFamily="34" charset="-120"/>
              </a:rPr>
              <a:t>2</a:t>
            </a:r>
            <a:endParaRPr lang="en-US" sz="1600" dirty="0"/>
          </a:p>
        </p:txBody>
      </p:sp>
      <p:sp>
        <p:nvSpPr>
          <p:cNvPr id="13" name="Text 10"/>
          <p:cNvSpPr txBox="1"/>
          <p:nvPr/>
        </p:nvSpPr>
        <p:spPr>
          <a:xfrm>
            <a:off x="4654550" y="3200400"/>
            <a:ext cx="2876550" cy="317500"/>
          </a:xfrm>
          <a:prstGeom prst="rect">
            <a:avLst/>
          </a:prstGeom>
          <a:noFill/>
          <a:ln/>
        </p:spPr>
        <p:txBody>
          <a:bodyPr wrap="square" lIns="0" tIns="0" rIns="0" bIns="0" rtlCol="0" anchor="t"/>
          <a:lstStyle/>
          <a:p>
            <a:pPr indent="0" marL="0">
              <a:buNone/>
            </a:pPr>
            <a:r>
              <a:rPr lang="en-US" sz="1800" b="1" dirty="0">
                <a:solidFill>
                  <a:srgbClr val="F6F3EF"/>
                </a:solidFill>
                <a:latin typeface="Arial" pitchFamily="34" charset="0"/>
                <a:ea typeface="Arial" pitchFamily="34" charset="-122"/>
                <a:cs typeface="Arial" pitchFamily="34" charset="-120"/>
              </a:rPr>
              <a:t>USSD menu</a:t>
            </a:r>
            <a:endParaRPr lang="en-US" sz="1800" dirty="0"/>
          </a:p>
        </p:txBody>
      </p:sp>
      <p:sp>
        <p:nvSpPr>
          <p:cNvPr id="14" name="Text 11"/>
          <p:cNvSpPr txBox="1"/>
          <p:nvPr/>
        </p:nvSpPr>
        <p:spPr>
          <a:xfrm>
            <a:off x="4654550" y="3594100"/>
            <a:ext cx="2876550" cy="1524000"/>
          </a:xfrm>
          <a:prstGeom prst="rect">
            <a:avLst/>
          </a:prstGeom>
          <a:noFill/>
          <a:ln/>
        </p:spPr>
        <p:txBody>
          <a:bodyPr wrap="square" lIns="0" tIns="0" rIns="0" bIns="0" rtlCol="0" anchor="t"/>
          <a:lstStyle/>
          <a:p>
            <a:pPr indent="0" marL="0">
              <a:lnSpc>
                <a:spcPct val="120000"/>
              </a:lnSpc>
              <a:buNone/>
            </a:pPr>
            <a:r>
              <a:rPr lang="en-US" sz="1400" dirty="0">
                <a:solidFill>
                  <a:srgbClr val="C9C4BD"/>
                </a:solidFill>
                <a:latin typeface="Arial" pitchFamily="34" charset="0"/>
                <a:ea typeface="Arial" pitchFamily="34" charset="-122"/>
                <a:cs typeface="Arial" pitchFamily="34" charset="-120"/>
              </a:rPr>
              <a:t>Any phone, even without the app, can dial a short code on MTN, Airtel, Glo or 9mobile and report an emergency.</a:t>
            </a:r>
            <a:endParaRPr lang="en-US" sz="1400" dirty="0"/>
          </a:p>
        </p:txBody>
      </p:sp>
      <p:sp>
        <p:nvSpPr>
          <p:cNvPr id="15" name="Shape 12"/>
          <p:cNvSpPr/>
          <p:nvPr/>
        </p:nvSpPr>
        <p:spPr>
          <a:xfrm>
            <a:off x="7988300" y="2413000"/>
            <a:ext cx="3384550" cy="2921000"/>
          </a:xfrm>
          <a:prstGeom prst="roundRect">
            <a:avLst>
              <a:gd name="adj" fmla="val 3757"/>
            </a:avLst>
          </a:prstGeom>
          <a:solidFill>
            <a:srgbClr val="262931"/>
          </a:solidFill>
          <a:ln w="12700">
            <a:solidFill>
              <a:srgbClr val="3A3D45"/>
            </a:solidFill>
            <a:prstDash val="solid"/>
          </a:ln>
        </p:spPr>
      </p:sp>
      <p:sp>
        <p:nvSpPr>
          <p:cNvPr id="16" name="Shape 13"/>
          <p:cNvSpPr/>
          <p:nvPr/>
        </p:nvSpPr>
        <p:spPr>
          <a:xfrm>
            <a:off x="8242300" y="2667000"/>
            <a:ext cx="355600" cy="355600"/>
          </a:xfrm>
          <a:prstGeom prst="ellipse">
            <a:avLst/>
          </a:prstGeom>
          <a:solidFill>
            <a:srgbClr val="F07A7F"/>
          </a:solidFill>
          <a:ln w="12700">
            <a:solidFill>
              <a:srgbClr val="F07A7F"/>
            </a:solidFill>
            <a:prstDash val="solid"/>
          </a:ln>
        </p:spPr>
      </p:sp>
      <p:sp>
        <p:nvSpPr>
          <p:cNvPr id="17" name="Text 14"/>
          <p:cNvSpPr txBox="1"/>
          <p:nvPr/>
        </p:nvSpPr>
        <p:spPr>
          <a:xfrm>
            <a:off x="8242300" y="2667000"/>
            <a:ext cx="355600" cy="355600"/>
          </a:xfrm>
          <a:prstGeom prst="rect">
            <a:avLst/>
          </a:prstGeom>
          <a:noFill/>
          <a:ln/>
        </p:spPr>
        <p:txBody>
          <a:bodyPr wrap="square" lIns="0" tIns="0" rIns="0" bIns="0" rtlCol="0" anchor="ctr"/>
          <a:lstStyle/>
          <a:p>
            <a:pPr algn="ctr" indent="0" marL="0">
              <a:buNone/>
            </a:pPr>
            <a:r>
              <a:rPr lang="en-US" sz="1600" b="1" dirty="0">
                <a:solidFill>
                  <a:srgbClr val="1B1D22"/>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8242300" y="3200400"/>
            <a:ext cx="2876550" cy="317500"/>
          </a:xfrm>
          <a:prstGeom prst="rect">
            <a:avLst/>
          </a:prstGeom>
          <a:noFill/>
          <a:ln/>
        </p:spPr>
        <p:txBody>
          <a:bodyPr wrap="square" lIns="0" tIns="0" rIns="0" bIns="0" rtlCol="0" anchor="t"/>
          <a:lstStyle/>
          <a:p>
            <a:pPr indent="0" marL="0">
              <a:buNone/>
            </a:pPr>
            <a:r>
              <a:rPr lang="en-US" sz="1800" b="1" dirty="0">
                <a:solidFill>
                  <a:srgbClr val="F6F3EF"/>
                </a:solidFill>
                <a:latin typeface="Arial" pitchFamily="34" charset="0"/>
                <a:ea typeface="Arial" pitchFamily="34" charset="-122"/>
                <a:cs typeface="Arial" pitchFamily="34" charset="-120"/>
              </a:rPr>
              <a:t>Bluetooth mesh</a:t>
            </a:r>
            <a:endParaRPr lang="en-US" sz="1800" dirty="0"/>
          </a:p>
        </p:txBody>
      </p:sp>
      <p:sp>
        <p:nvSpPr>
          <p:cNvPr id="19" name="Text 16"/>
          <p:cNvSpPr txBox="1"/>
          <p:nvPr/>
        </p:nvSpPr>
        <p:spPr>
          <a:xfrm>
            <a:off x="8242300" y="3594100"/>
            <a:ext cx="2876550" cy="1524000"/>
          </a:xfrm>
          <a:prstGeom prst="rect">
            <a:avLst/>
          </a:prstGeom>
          <a:noFill/>
          <a:ln/>
        </p:spPr>
        <p:txBody>
          <a:bodyPr wrap="square" lIns="0" tIns="0" rIns="0" bIns="0" rtlCol="0" anchor="t"/>
          <a:lstStyle/>
          <a:p>
            <a:pPr indent="0" marL="0">
              <a:lnSpc>
                <a:spcPct val="120000"/>
              </a:lnSpc>
              <a:buNone/>
            </a:pPr>
            <a:r>
              <a:rPr lang="en-US" sz="1400" dirty="0">
                <a:solidFill>
                  <a:srgbClr val="C9C4BD"/>
                </a:solidFill>
                <a:latin typeface="Arial" pitchFamily="34" charset="0"/>
                <a:ea typeface="Arial" pitchFamily="34" charset="-122"/>
                <a:cs typeface="Arial" pitchFamily="34" charset="-120"/>
              </a:rPr>
              <a:t>Nearby phones relay a sealed alert until one reaches a network. Relays cannot read what they carry.</a:t>
            </a:r>
            <a:endParaRPr lang="en-US" sz="14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A7A29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812800" y="1905000"/>
            <a:ext cx="2540000" cy="444500"/>
          </a:xfrm>
          <a:prstGeom prst="rect">
            <a:avLst/>
          </a:prstGeom>
          <a:noFill/>
          <a:ln/>
        </p:spPr>
        <p:txBody>
          <a:bodyPr wrap="square" lIns="0" tIns="0" rIns="0" bIns="0" rtlCol="0" anchor="t"/>
          <a:lstStyle/>
          <a:p>
            <a:pPr indent="0" marL="0">
              <a:buNone/>
            </a:pPr>
            <a:r>
              <a:rPr lang="en-US" sz="2200" b="1" dirty="0">
                <a:solidFill>
                  <a:srgbClr val="F7C9CB"/>
                </a:solidFill>
                <a:latin typeface="Arial" pitchFamily="34" charset="0"/>
                <a:ea typeface="Arial" pitchFamily="34" charset="-122"/>
                <a:cs typeface="Arial" pitchFamily="34" charset="-120"/>
              </a:rPr>
              <a:t>02</a:t>
            </a:r>
            <a:endParaRPr lang="en-US" sz="2200" dirty="0"/>
          </a:p>
        </p:txBody>
      </p:sp>
      <p:sp>
        <p:nvSpPr>
          <p:cNvPr id="4" name="Text 0"/>
          <p:cNvSpPr/>
          <p:nvPr>
            <p:ph idx="100" type="title" hasCustomPrompt="1"/>
          </p:nvPr>
        </p:nvSpPr>
        <p:spPr>
          <a:xfrm>
            <a:off x="812800" y="2540000"/>
            <a:ext cx="10566400" cy="952500"/>
          </a:xfrm>
          <a:prstGeom prst="rect">
            <a:avLst/>
          </a:prstGeom>
          <a:noFill/>
          <a:ln/>
        </p:spPr>
        <p:txBody>
          <a:bodyPr wrap="square" lIns="0" tIns="0" rIns="0" bIns="0" rtlCol="0" anchor="t"/>
          <a:lstStyle/>
          <a:p>
            <a:pPr algn="l" indent="0" marL="0">
              <a:buNone/>
            </a:pPr>
            <a:r>
              <a:rPr lang="en-US" sz="6000" b="1" dirty="0">
                <a:solidFill>
                  <a:srgbClr val="FBF7F3"/>
                </a:solidFill>
                <a:latin typeface="Arial" pitchFamily="34" charset="0"/>
                <a:ea typeface="Arial" pitchFamily="34" charset="-122"/>
                <a:cs typeface="Arial" pitchFamily="34" charset="-120"/>
              </a:rPr>
              <a:t>The HQ console</a:t>
            </a:r>
            <a:endParaRPr lang="en-US" sz="6000" dirty="0"/>
          </a:p>
        </p:txBody>
      </p:sp>
      <p:sp>
        <p:nvSpPr>
          <p:cNvPr id="5" name="Text 2"/>
          <p:cNvSpPr txBox="1"/>
          <p:nvPr/>
        </p:nvSpPr>
        <p:spPr>
          <a:xfrm>
            <a:off x="812800" y="3683000"/>
            <a:ext cx="8255000" cy="889000"/>
          </a:xfrm>
          <a:prstGeom prst="rect">
            <a:avLst/>
          </a:prstGeom>
          <a:noFill/>
          <a:ln/>
        </p:spPr>
        <p:txBody>
          <a:bodyPr wrap="square" lIns="0" tIns="0" rIns="0" bIns="0" rtlCol="0" anchor="t"/>
          <a:lstStyle/>
          <a:p>
            <a:pPr indent="0" marL="0">
              <a:lnSpc>
                <a:spcPct val="120000"/>
              </a:lnSpc>
              <a:buNone/>
            </a:pPr>
            <a:r>
              <a:rPr lang="en-US" sz="2200" dirty="0">
                <a:solidFill>
                  <a:srgbClr val="FBF7F3"/>
                </a:solidFill>
                <a:latin typeface="Arial" pitchFamily="34" charset="0"/>
                <a:ea typeface="Arial" pitchFamily="34" charset="-122"/>
                <a:cs typeface="Arial" pitchFamily="34" charset="-120"/>
              </a:rPr>
              <a:t>Where every alert lands, and where HQ dispatches, escalates and coordinates with agencies.</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HQ CONSOLE · SIGN-IN</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Each officer sees what their role allows</a:t>
            </a:r>
            <a:endParaRPr lang="en-US" sz="3200" dirty="0"/>
          </a:p>
        </p:txBody>
      </p:sp>
      <p:sp>
        <p:nvSpPr>
          <p:cNvPr id="5" name="Shape 2"/>
          <p:cNvSpPr/>
          <p:nvPr/>
        </p:nvSpPr>
        <p:spPr>
          <a:xfrm>
            <a:off x="812800" y="1905000"/>
            <a:ext cx="6350000" cy="3968750"/>
          </a:xfrm>
          <a:prstGeom prst="roundRect">
            <a:avLst>
              <a:gd name="adj" fmla="val 1843"/>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HQ console sign-in with badge ID and security PIN">    </p:cNvPr>
          <p:cNvPicPr>
            <a:picLocks noChangeAspect="1"/>
          </p:cNvPicPr>
          <p:nvPr/>
        </p:nvPicPr>
        <p:blipFill>
          <a:blip r:embed="rId1"/>
          <a:stretch>
            <a:fillRect/>
          </a:stretch>
        </p:blipFill>
        <p:spPr>
          <a:xfrm>
            <a:off x="863600" y="1936750"/>
            <a:ext cx="6248400" cy="3905250"/>
          </a:xfrm>
          <a:prstGeom prst="rect">
            <a:avLst/>
          </a:prstGeom>
        </p:spPr>
      </p:pic>
      <p:sp>
        <p:nvSpPr>
          <p:cNvPr id="7" name="Text 3"/>
          <p:cNvSpPr txBox="1"/>
          <p:nvPr/>
        </p:nvSpPr>
        <p:spPr>
          <a:xfrm>
            <a:off x="7569200" y="1905000"/>
            <a:ext cx="3810000" cy="8890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Officers sign in with a badge ID or email and a security PIN.</a:t>
            </a:r>
            <a:endParaRPr lang="en-US" sz="1500" dirty="0"/>
          </a:p>
        </p:txBody>
      </p:sp>
      <p:sp>
        <p:nvSpPr>
          <p:cNvPr id="8" name="Shape 4"/>
          <p:cNvSpPr/>
          <p:nvPr/>
        </p:nvSpPr>
        <p:spPr>
          <a:xfrm>
            <a:off x="7569200" y="3035300"/>
            <a:ext cx="127000" cy="127000"/>
          </a:xfrm>
          <a:prstGeom prst="ellipse">
            <a:avLst/>
          </a:prstGeom>
          <a:solidFill>
            <a:srgbClr val="C21F27"/>
          </a:solidFill>
          <a:ln w="12700">
            <a:solidFill>
              <a:srgbClr val="C21F27"/>
            </a:solidFill>
            <a:prstDash val="solid"/>
          </a:ln>
        </p:spPr>
      </p:sp>
      <p:sp>
        <p:nvSpPr>
          <p:cNvPr id="9" name="Text 5"/>
          <p:cNvSpPr txBox="1"/>
          <p:nvPr/>
        </p:nvSpPr>
        <p:spPr>
          <a:xfrm>
            <a:off x="7823200" y="2984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HQ command</a:t>
            </a:r>
            <a:endParaRPr lang="en-US" sz="1400" dirty="0"/>
          </a:p>
        </p:txBody>
      </p:sp>
      <p:sp>
        <p:nvSpPr>
          <p:cNvPr id="10" name="Text 6"/>
          <p:cNvSpPr txBox="1"/>
          <p:nvPr/>
        </p:nvSpPr>
        <p:spPr>
          <a:xfrm>
            <a:off x="7823200" y="3263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The whole state, every tab and the administration tools.</a:t>
            </a:r>
            <a:endParaRPr lang="en-US" sz="1300" dirty="0"/>
          </a:p>
        </p:txBody>
      </p:sp>
      <p:sp>
        <p:nvSpPr>
          <p:cNvPr id="11" name="Shape 7"/>
          <p:cNvSpPr/>
          <p:nvPr/>
        </p:nvSpPr>
        <p:spPr>
          <a:xfrm>
            <a:off x="7569200" y="3987800"/>
            <a:ext cx="127000" cy="127000"/>
          </a:xfrm>
          <a:prstGeom prst="ellipse">
            <a:avLst/>
          </a:prstGeom>
          <a:solidFill>
            <a:srgbClr val="C21F27"/>
          </a:solidFill>
          <a:ln w="12700">
            <a:solidFill>
              <a:srgbClr val="C21F27"/>
            </a:solidFill>
            <a:prstDash val="solid"/>
          </a:ln>
        </p:spPr>
      </p:sp>
      <p:sp>
        <p:nvSpPr>
          <p:cNvPr id="12" name="Text 8"/>
          <p:cNvSpPr txBox="1"/>
          <p:nvPr/>
        </p:nvSpPr>
        <p:spPr>
          <a:xfrm>
            <a:off x="7823200" y="39370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LGA and ward command</a:t>
            </a:r>
            <a:endParaRPr lang="en-US" sz="1400" dirty="0"/>
          </a:p>
        </p:txBody>
      </p:sp>
      <p:sp>
        <p:nvSpPr>
          <p:cNvPr id="13" name="Text 9"/>
          <p:cNvSpPr txBox="1"/>
          <p:nvPr/>
        </p:nvSpPr>
        <p:spPr>
          <a:xfrm>
            <a:off x="7823200" y="42164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Incidents in their own area of responsibility.</a:t>
            </a:r>
            <a:endParaRPr lang="en-US" sz="1300" dirty="0"/>
          </a:p>
        </p:txBody>
      </p:sp>
      <p:sp>
        <p:nvSpPr>
          <p:cNvPr id="14" name="Shape 10"/>
          <p:cNvSpPr/>
          <p:nvPr/>
        </p:nvSpPr>
        <p:spPr>
          <a:xfrm>
            <a:off x="7569200" y="4940300"/>
            <a:ext cx="127000" cy="127000"/>
          </a:xfrm>
          <a:prstGeom prst="ellipse">
            <a:avLst/>
          </a:prstGeom>
          <a:solidFill>
            <a:srgbClr val="C21F27"/>
          </a:solidFill>
          <a:ln w="12700">
            <a:solidFill>
              <a:srgbClr val="C21F27"/>
            </a:solidFill>
            <a:prstDash val="solid"/>
          </a:ln>
        </p:spPr>
      </p:sp>
      <p:sp>
        <p:nvSpPr>
          <p:cNvPr id="15" name="Text 11"/>
          <p:cNvSpPr txBox="1"/>
          <p:nvPr/>
        </p:nvSpPr>
        <p:spPr>
          <a:xfrm>
            <a:off x="7823200" y="4889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Agency liaisons</a:t>
            </a:r>
            <a:endParaRPr lang="en-US" sz="1400" dirty="0"/>
          </a:p>
        </p:txBody>
      </p:sp>
      <p:sp>
        <p:nvSpPr>
          <p:cNvPr id="16" name="Text 12"/>
          <p:cNvSpPr txBox="1"/>
          <p:nvPr/>
        </p:nvSpPr>
        <p:spPr>
          <a:xfrm>
            <a:off x="7823200" y="5168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Only incidents HQ has handed to their agency.</a:t>
            </a:r>
            <a:endParaRPr lang="en-US" sz="13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HQ CONSOLE · INTELLIGENCE MAP</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Every incident in Plateau State, live</a:t>
            </a:r>
            <a:endParaRPr lang="en-US" sz="3200" dirty="0"/>
          </a:p>
        </p:txBody>
      </p:sp>
      <p:sp>
        <p:nvSpPr>
          <p:cNvPr id="5" name="Shape 2"/>
          <p:cNvSpPr/>
          <p:nvPr/>
        </p:nvSpPr>
        <p:spPr>
          <a:xfrm>
            <a:off x="812800" y="1905000"/>
            <a:ext cx="6350000" cy="3968750"/>
          </a:xfrm>
          <a:prstGeom prst="roundRect">
            <a:avLst>
              <a:gd name="adj" fmla="val 1843"/>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Intelligence map of Plateau State LGAs with incident pins and the situational feed">    </p:cNvPr>
          <p:cNvPicPr>
            <a:picLocks noChangeAspect="1"/>
          </p:cNvPicPr>
          <p:nvPr/>
        </p:nvPicPr>
        <p:blipFill>
          <a:blip r:embed="rId1"/>
          <a:stretch>
            <a:fillRect/>
          </a:stretch>
        </p:blipFill>
        <p:spPr>
          <a:xfrm>
            <a:off x="863600" y="1936750"/>
            <a:ext cx="6248400" cy="3905250"/>
          </a:xfrm>
          <a:prstGeom prst="rect">
            <a:avLst/>
          </a:prstGeom>
        </p:spPr>
      </p:pic>
      <p:sp>
        <p:nvSpPr>
          <p:cNvPr id="7" name="Text 3"/>
          <p:cNvSpPr txBox="1"/>
          <p:nvPr/>
        </p:nvSpPr>
        <p:spPr>
          <a:xfrm>
            <a:off x="7569200" y="1905000"/>
            <a:ext cx="3810000" cy="8890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The map is the console's main screen. New alerts appear without refreshing.</a:t>
            </a:r>
            <a:endParaRPr lang="en-US" sz="1500" dirty="0"/>
          </a:p>
        </p:txBody>
      </p:sp>
      <p:sp>
        <p:nvSpPr>
          <p:cNvPr id="8" name="Shape 4"/>
          <p:cNvSpPr/>
          <p:nvPr/>
        </p:nvSpPr>
        <p:spPr>
          <a:xfrm>
            <a:off x="7569200" y="3035300"/>
            <a:ext cx="127000" cy="127000"/>
          </a:xfrm>
          <a:prstGeom prst="ellipse">
            <a:avLst/>
          </a:prstGeom>
          <a:solidFill>
            <a:srgbClr val="C21F27"/>
          </a:solidFill>
          <a:ln w="12700">
            <a:solidFill>
              <a:srgbClr val="C21F27"/>
            </a:solidFill>
            <a:prstDash val="solid"/>
          </a:ln>
        </p:spPr>
      </p:sp>
      <p:sp>
        <p:nvSpPr>
          <p:cNvPr id="9" name="Text 5"/>
          <p:cNvSpPr txBox="1"/>
          <p:nvPr/>
        </p:nvSpPr>
        <p:spPr>
          <a:xfrm>
            <a:off x="7823200" y="2984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Drill down</a:t>
            </a:r>
            <a:endParaRPr lang="en-US" sz="1400" dirty="0"/>
          </a:p>
        </p:txBody>
      </p:sp>
      <p:sp>
        <p:nvSpPr>
          <p:cNvPr id="10" name="Text 6"/>
          <p:cNvSpPr txBox="1"/>
          <p:nvPr/>
        </p:nvSpPr>
        <p:spPr>
          <a:xfrm>
            <a:off x="7823200" y="3263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Filter by status, LGA, ward, polling unit and command tier.</a:t>
            </a:r>
            <a:endParaRPr lang="en-US" sz="1300" dirty="0"/>
          </a:p>
        </p:txBody>
      </p:sp>
      <p:sp>
        <p:nvSpPr>
          <p:cNvPr id="11" name="Shape 7"/>
          <p:cNvSpPr/>
          <p:nvPr/>
        </p:nvSpPr>
        <p:spPr>
          <a:xfrm>
            <a:off x="7569200" y="3987800"/>
            <a:ext cx="127000" cy="127000"/>
          </a:xfrm>
          <a:prstGeom prst="ellipse">
            <a:avLst/>
          </a:prstGeom>
          <a:solidFill>
            <a:srgbClr val="C21F27"/>
          </a:solidFill>
          <a:ln w="12700">
            <a:solidFill>
              <a:srgbClr val="C21F27"/>
            </a:solidFill>
            <a:prstDash val="solid"/>
          </a:ln>
        </p:spPr>
      </p:sp>
      <p:sp>
        <p:nvSpPr>
          <p:cNvPr id="12" name="Text 8"/>
          <p:cNvSpPr txBox="1"/>
          <p:nvPr/>
        </p:nvSpPr>
        <p:spPr>
          <a:xfrm>
            <a:off x="7823200" y="39370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Hotspots</a:t>
            </a:r>
            <a:endParaRPr lang="en-US" sz="1400" dirty="0"/>
          </a:p>
        </p:txBody>
      </p:sp>
      <p:sp>
        <p:nvSpPr>
          <p:cNvPr id="13" name="Text 9"/>
          <p:cNvSpPr txBox="1"/>
          <p:nvPr/>
        </p:nvSpPr>
        <p:spPr>
          <a:xfrm>
            <a:off x="7823200" y="42164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The forecasting panel shades areas by how many alerts they hold.</a:t>
            </a:r>
            <a:endParaRPr lang="en-US" sz="1300" dirty="0"/>
          </a:p>
        </p:txBody>
      </p:sp>
      <p:sp>
        <p:nvSpPr>
          <p:cNvPr id="14" name="Shape 10"/>
          <p:cNvSpPr/>
          <p:nvPr/>
        </p:nvSpPr>
        <p:spPr>
          <a:xfrm>
            <a:off x="7569200" y="4940300"/>
            <a:ext cx="127000" cy="127000"/>
          </a:xfrm>
          <a:prstGeom prst="ellipse">
            <a:avLst/>
          </a:prstGeom>
          <a:solidFill>
            <a:srgbClr val="C21F27"/>
          </a:solidFill>
          <a:ln w="12700">
            <a:solidFill>
              <a:srgbClr val="C21F27"/>
            </a:solidFill>
            <a:prstDash val="solid"/>
          </a:ln>
        </p:spPr>
      </p:sp>
      <p:sp>
        <p:nvSpPr>
          <p:cNvPr id="15" name="Text 11"/>
          <p:cNvSpPr txBox="1"/>
          <p:nvPr/>
        </p:nvSpPr>
        <p:spPr>
          <a:xfrm>
            <a:off x="7823200" y="4889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Nothing hidden</a:t>
            </a:r>
            <a:endParaRPr lang="en-US" sz="1400" dirty="0"/>
          </a:p>
        </p:txBody>
      </p:sp>
      <p:sp>
        <p:nvSpPr>
          <p:cNvPr id="16" name="Text 12"/>
          <p:cNvSpPr txBox="1"/>
          <p:nvPr/>
        </p:nvSpPr>
        <p:spPr>
          <a:xfrm>
            <a:off x="7823200" y="5168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An alert with no GPS fix is flagged in the feed, not dropped or guessed.</a:t>
            </a:r>
            <a:endParaRPr lang="en-US" sz="13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HQ CONSOLE · INTELLIGENCE MAP</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Act straight from the map, day or night</a:t>
            </a:r>
            <a:endParaRPr lang="en-US" sz="3200" dirty="0"/>
          </a:p>
        </p:txBody>
      </p:sp>
      <p:sp>
        <p:nvSpPr>
          <p:cNvPr id="5" name="Shape 2"/>
          <p:cNvSpPr/>
          <p:nvPr/>
        </p:nvSpPr>
        <p:spPr>
          <a:xfrm>
            <a:off x="812800" y="1905000"/>
            <a:ext cx="4978400" cy="3111500"/>
          </a:xfrm>
          <a:prstGeom prst="roundRect">
            <a:avLst>
              <a:gd name="adj" fmla="val 2351"/>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Incident card opened on the map">    </p:cNvPr>
          <p:cNvPicPr>
            <a:picLocks noChangeAspect="1"/>
          </p:cNvPicPr>
          <p:nvPr/>
        </p:nvPicPr>
        <p:blipFill>
          <a:blip r:embed="rId1"/>
          <a:stretch>
            <a:fillRect/>
          </a:stretch>
        </p:blipFill>
        <p:spPr>
          <a:xfrm>
            <a:off x="863600" y="1936750"/>
            <a:ext cx="4876800" cy="3048000"/>
          </a:xfrm>
          <a:prstGeom prst="rect">
            <a:avLst/>
          </a:prstGeom>
        </p:spPr>
      </p:pic>
      <p:sp>
        <p:nvSpPr>
          <p:cNvPr id="7" name="Text 3"/>
          <p:cNvSpPr txBox="1"/>
          <p:nvPr/>
        </p:nvSpPr>
        <p:spPr>
          <a:xfrm>
            <a:off x="812800" y="5156200"/>
            <a:ext cx="49784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Incident card</a:t>
            </a:r>
            <a:endParaRPr lang="en-US" sz="1500" dirty="0"/>
          </a:p>
        </p:txBody>
      </p:sp>
      <p:sp>
        <p:nvSpPr>
          <p:cNvPr id="8" name="Text 4"/>
          <p:cNvSpPr txBox="1"/>
          <p:nvPr/>
        </p:nvSpPr>
        <p:spPr>
          <a:xfrm>
            <a:off x="812800" y="5435600"/>
            <a:ext cx="4978400" cy="508000"/>
          </a:xfrm>
          <a:prstGeom prst="rect">
            <a:avLst/>
          </a:prstGeom>
          <a:noFill/>
          <a:ln/>
        </p:spPr>
        <p:txBody>
          <a:bodyPr wrap="square" lIns="0" tIns="0" rIns="0" bIns="0" rtlCol="0" anchor="t"/>
          <a:lstStyle/>
          <a:p>
            <a:pPr indent="0" marL="0">
              <a:buNone/>
            </a:pPr>
            <a:r>
              <a:rPr lang="en-US" sz="1400" dirty="0">
                <a:solidFill>
                  <a:srgbClr val="4A4F57"/>
                </a:solidFill>
                <a:latin typeface="Arial" pitchFamily="34" charset="0"/>
                <a:ea typeface="Arial" pitchFamily="34" charset="-122"/>
                <a:cs typeface="Arial" pitchFamily="34" charset="-120"/>
              </a:rPr>
              <a:t>Tier, assignee, reporter and coordinates, with dossier, dispatch, resolve and call.</a:t>
            </a:r>
            <a:endParaRPr lang="en-US" sz="1400" dirty="0"/>
          </a:p>
        </p:txBody>
      </p:sp>
      <p:sp>
        <p:nvSpPr>
          <p:cNvPr id="9" name="Shape 5"/>
          <p:cNvSpPr/>
          <p:nvPr/>
        </p:nvSpPr>
        <p:spPr>
          <a:xfrm>
            <a:off x="6400800" y="1905000"/>
            <a:ext cx="4978400" cy="3111500"/>
          </a:xfrm>
          <a:prstGeom prst="roundRect">
            <a:avLst>
              <a:gd name="adj" fmla="val 2351"/>
            </a:avLst>
          </a:prstGeom>
          <a:solidFill>
            <a:srgbClr val="1B1D22"/>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10" name="Image 1" descr="Intelligence map in the dark theme">    </p:cNvPr>
          <p:cNvPicPr>
            <a:picLocks noChangeAspect="1"/>
          </p:cNvPicPr>
          <p:nvPr/>
        </p:nvPicPr>
        <p:blipFill>
          <a:blip r:embed="rId2"/>
          <a:stretch>
            <a:fillRect/>
          </a:stretch>
        </p:blipFill>
        <p:spPr>
          <a:xfrm>
            <a:off x="6451600" y="1936750"/>
            <a:ext cx="4876800" cy="3048000"/>
          </a:xfrm>
          <a:prstGeom prst="rect">
            <a:avLst/>
          </a:prstGeom>
        </p:spPr>
      </p:pic>
      <p:sp>
        <p:nvSpPr>
          <p:cNvPr id="11" name="Text 6"/>
          <p:cNvSpPr txBox="1"/>
          <p:nvPr/>
        </p:nvSpPr>
        <p:spPr>
          <a:xfrm>
            <a:off x="6400800" y="5156200"/>
            <a:ext cx="49784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Night mode</a:t>
            </a:r>
            <a:endParaRPr lang="en-US" sz="1500" dirty="0"/>
          </a:p>
        </p:txBody>
      </p:sp>
      <p:sp>
        <p:nvSpPr>
          <p:cNvPr id="12" name="Text 7"/>
          <p:cNvSpPr txBox="1"/>
          <p:nvPr/>
        </p:nvSpPr>
        <p:spPr>
          <a:xfrm>
            <a:off x="6400800" y="5435600"/>
            <a:ext cx="4978400" cy="508000"/>
          </a:xfrm>
          <a:prstGeom prst="rect">
            <a:avLst/>
          </a:prstGeom>
          <a:noFill/>
          <a:ln/>
        </p:spPr>
        <p:txBody>
          <a:bodyPr wrap="square" lIns="0" tIns="0" rIns="0" bIns="0" rtlCol="0" anchor="t"/>
          <a:lstStyle/>
          <a:p>
            <a:pPr indent="0" marL="0">
              <a:buNone/>
            </a:pPr>
            <a:r>
              <a:rPr lang="en-US" sz="1400" dirty="0">
                <a:solidFill>
                  <a:srgbClr val="4A4F57"/>
                </a:solidFill>
                <a:latin typeface="Arial" pitchFamily="34" charset="0"/>
                <a:ea typeface="Arial" pitchFamily="34" charset="-122"/>
                <a:cs typeface="Arial" pitchFamily="34" charset="-120"/>
              </a:rPr>
              <a:t>A dark theme for the operations room during night shifts.</a:t>
            </a:r>
            <a:endParaRPr lang="en-US" sz="14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HQ CONSOLE · INCIDENT FEED</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Triage every incident from one feed</a:t>
            </a:r>
            <a:endParaRPr lang="en-US" sz="3200" dirty="0"/>
          </a:p>
        </p:txBody>
      </p:sp>
      <p:sp>
        <p:nvSpPr>
          <p:cNvPr id="5" name="Shape 2"/>
          <p:cNvSpPr/>
          <p:nvPr/>
        </p:nvSpPr>
        <p:spPr>
          <a:xfrm>
            <a:off x="812800" y="1905000"/>
            <a:ext cx="6350000" cy="3968750"/>
          </a:xfrm>
          <a:prstGeom prst="roundRect">
            <a:avLst>
              <a:gd name="adj" fmla="val 1843"/>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Incident Command feed with incident cards and Escalate, Dispatch and Resolve buttons">    </p:cNvPr>
          <p:cNvPicPr>
            <a:picLocks noChangeAspect="1"/>
          </p:cNvPicPr>
          <p:nvPr/>
        </p:nvPicPr>
        <p:blipFill>
          <a:blip r:embed="rId1"/>
          <a:stretch>
            <a:fillRect/>
          </a:stretch>
        </p:blipFill>
        <p:spPr>
          <a:xfrm>
            <a:off x="863600" y="1936750"/>
            <a:ext cx="6248400" cy="3905250"/>
          </a:xfrm>
          <a:prstGeom prst="rect">
            <a:avLst/>
          </a:prstGeom>
        </p:spPr>
      </p:pic>
      <p:sp>
        <p:nvSpPr>
          <p:cNvPr id="7" name="Text 3"/>
          <p:cNvSpPr txBox="1"/>
          <p:nvPr/>
        </p:nvSpPr>
        <p:spPr>
          <a:xfrm>
            <a:off x="7569200" y="1905000"/>
            <a:ext cx="3810000" cy="8890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Each open incident is a card with everything needed to decide the next step.</a:t>
            </a:r>
            <a:endParaRPr lang="en-US" sz="1500" dirty="0"/>
          </a:p>
        </p:txBody>
      </p:sp>
      <p:sp>
        <p:nvSpPr>
          <p:cNvPr id="8" name="Shape 4"/>
          <p:cNvSpPr/>
          <p:nvPr/>
        </p:nvSpPr>
        <p:spPr>
          <a:xfrm>
            <a:off x="7569200" y="3035300"/>
            <a:ext cx="127000" cy="127000"/>
          </a:xfrm>
          <a:prstGeom prst="ellipse">
            <a:avLst/>
          </a:prstGeom>
          <a:solidFill>
            <a:srgbClr val="C21F27"/>
          </a:solidFill>
          <a:ln w="12700">
            <a:solidFill>
              <a:srgbClr val="C21F27"/>
            </a:solidFill>
            <a:prstDash val="solid"/>
          </a:ln>
        </p:spPr>
      </p:sp>
      <p:sp>
        <p:nvSpPr>
          <p:cNvPr id="9" name="Text 5"/>
          <p:cNvSpPr txBox="1"/>
          <p:nvPr/>
        </p:nvSpPr>
        <p:spPr>
          <a:xfrm>
            <a:off x="7823200" y="2984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AI triage</a:t>
            </a:r>
            <a:endParaRPr lang="en-US" sz="1400" dirty="0"/>
          </a:p>
        </p:txBody>
      </p:sp>
      <p:sp>
        <p:nvSpPr>
          <p:cNvPr id="10" name="Text 6"/>
          <p:cNvSpPr txBox="1"/>
          <p:nvPr/>
        </p:nvSpPr>
        <p:spPr>
          <a:xfrm>
            <a:off x="7823200" y="3263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Suggests the category and priority. Rules take over if AI is off.</a:t>
            </a:r>
            <a:endParaRPr lang="en-US" sz="1300" dirty="0"/>
          </a:p>
        </p:txBody>
      </p:sp>
      <p:sp>
        <p:nvSpPr>
          <p:cNvPr id="11" name="Shape 7"/>
          <p:cNvSpPr/>
          <p:nvPr/>
        </p:nvSpPr>
        <p:spPr>
          <a:xfrm>
            <a:off x="7569200" y="3987800"/>
            <a:ext cx="127000" cy="127000"/>
          </a:xfrm>
          <a:prstGeom prst="ellipse">
            <a:avLst/>
          </a:prstGeom>
          <a:solidFill>
            <a:srgbClr val="C21F27"/>
          </a:solidFill>
          <a:ln w="12700">
            <a:solidFill>
              <a:srgbClr val="C21F27"/>
            </a:solidFill>
            <a:prstDash val="solid"/>
          </a:ln>
        </p:spPr>
      </p:sp>
      <p:sp>
        <p:nvSpPr>
          <p:cNvPr id="12" name="Text 8"/>
          <p:cNvSpPr txBox="1"/>
          <p:nvPr/>
        </p:nvSpPr>
        <p:spPr>
          <a:xfrm>
            <a:off x="7823200" y="39370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Location and reporter</a:t>
            </a:r>
            <a:endParaRPr lang="en-US" sz="1400" dirty="0"/>
          </a:p>
        </p:txBody>
      </p:sp>
      <p:sp>
        <p:nvSpPr>
          <p:cNvPr id="13" name="Text 9"/>
          <p:cNvSpPr txBox="1"/>
          <p:nvPr/>
        </p:nvSpPr>
        <p:spPr>
          <a:xfrm>
            <a:off x="7823200" y="42164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LGA, ward and polling unit, plus the reporter's name and number.</a:t>
            </a:r>
            <a:endParaRPr lang="en-US" sz="1300" dirty="0"/>
          </a:p>
        </p:txBody>
      </p:sp>
      <p:sp>
        <p:nvSpPr>
          <p:cNvPr id="14" name="Shape 10"/>
          <p:cNvSpPr/>
          <p:nvPr/>
        </p:nvSpPr>
        <p:spPr>
          <a:xfrm>
            <a:off x="7569200" y="4940300"/>
            <a:ext cx="127000" cy="127000"/>
          </a:xfrm>
          <a:prstGeom prst="ellipse">
            <a:avLst/>
          </a:prstGeom>
          <a:solidFill>
            <a:srgbClr val="C21F27"/>
          </a:solidFill>
          <a:ln w="12700">
            <a:solidFill>
              <a:srgbClr val="C21F27"/>
            </a:solidFill>
            <a:prstDash val="solid"/>
          </a:ln>
        </p:spPr>
      </p:sp>
      <p:sp>
        <p:nvSpPr>
          <p:cNvPr id="15" name="Text 11"/>
          <p:cNvSpPr txBox="1"/>
          <p:nvPr/>
        </p:nvSpPr>
        <p:spPr>
          <a:xfrm>
            <a:off x="7823200" y="4889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Three actions</a:t>
            </a:r>
            <a:endParaRPr lang="en-US" sz="1400" dirty="0"/>
          </a:p>
        </p:txBody>
      </p:sp>
      <p:sp>
        <p:nvSpPr>
          <p:cNvPr id="16" name="Text 12"/>
          <p:cNvSpPr txBox="1"/>
          <p:nvPr/>
        </p:nvSpPr>
        <p:spPr>
          <a:xfrm>
            <a:off x="7823200" y="5168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Escalate, dispatch or resolve, right on the card.</a:t>
            </a:r>
            <a:endParaRPr lang="en-US" sz="13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HQ CONSOLE · INCIDENT DOSSIER</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The full record of one incident</a:t>
            </a:r>
            <a:endParaRPr lang="en-US" sz="3200" dirty="0"/>
          </a:p>
        </p:txBody>
      </p:sp>
      <p:sp>
        <p:nvSpPr>
          <p:cNvPr id="5" name="Shape 2"/>
          <p:cNvSpPr/>
          <p:nvPr/>
        </p:nvSpPr>
        <p:spPr>
          <a:xfrm>
            <a:off x="812800" y="1905000"/>
            <a:ext cx="6350000" cy="3968750"/>
          </a:xfrm>
          <a:prstGeom prst="roundRect">
            <a:avLst>
              <a:gd name="adj" fmla="val 1843"/>
            </a:avLst>
          </a:prstGeom>
          <a:solidFill>
            <a:srgbClr val="1B1D22"/>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Incident dossier with details, location, description, live video feed and reporter profile">    </p:cNvPr>
          <p:cNvPicPr>
            <a:picLocks noChangeAspect="1"/>
          </p:cNvPicPr>
          <p:nvPr/>
        </p:nvPicPr>
        <p:blipFill>
          <a:blip r:embed="rId1"/>
          <a:stretch>
            <a:fillRect/>
          </a:stretch>
        </p:blipFill>
        <p:spPr>
          <a:xfrm>
            <a:off x="863600" y="1936750"/>
            <a:ext cx="6248400" cy="3905250"/>
          </a:xfrm>
          <a:prstGeom prst="rect">
            <a:avLst/>
          </a:prstGeom>
        </p:spPr>
      </p:pic>
      <p:sp>
        <p:nvSpPr>
          <p:cNvPr id="7" name="Text 3"/>
          <p:cNvSpPr txBox="1"/>
          <p:nvPr/>
        </p:nvSpPr>
        <p:spPr>
          <a:xfrm>
            <a:off x="7569200" y="1905000"/>
            <a:ext cx="3810000" cy="8890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The dossier gathers everything known about an incident in one place.</a:t>
            </a:r>
            <a:endParaRPr lang="en-US" sz="1500" dirty="0"/>
          </a:p>
        </p:txBody>
      </p:sp>
      <p:sp>
        <p:nvSpPr>
          <p:cNvPr id="8" name="Shape 4"/>
          <p:cNvSpPr/>
          <p:nvPr/>
        </p:nvSpPr>
        <p:spPr>
          <a:xfrm>
            <a:off x="7569200" y="3035300"/>
            <a:ext cx="127000" cy="127000"/>
          </a:xfrm>
          <a:prstGeom prst="ellipse">
            <a:avLst/>
          </a:prstGeom>
          <a:solidFill>
            <a:srgbClr val="C21F27"/>
          </a:solidFill>
          <a:ln w="12700">
            <a:solidFill>
              <a:srgbClr val="C21F27"/>
            </a:solidFill>
            <a:prstDash val="solid"/>
          </a:ln>
        </p:spPr>
      </p:sp>
      <p:sp>
        <p:nvSpPr>
          <p:cNvPr id="9" name="Text 5"/>
          <p:cNvSpPr txBox="1"/>
          <p:nvPr/>
        </p:nvSpPr>
        <p:spPr>
          <a:xfrm>
            <a:off x="7823200" y="2984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Details and location</a:t>
            </a:r>
            <a:endParaRPr lang="en-US" sz="1400" dirty="0"/>
          </a:p>
        </p:txBody>
      </p:sp>
      <p:sp>
        <p:nvSpPr>
          <p:cNvPr id="10" name="Text 6"/>
          <p:cNvSpPr txBox="1"/>
          <p:nvPr/>
        </p:nvSpPr>
        <p:spPr>
          <a:xfrm>
            <a:off x="7823200" y="3263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Scope, priority, movement, LGA, ward, polling unit and coordinates.</a:t>
            </a:r>
            <a:endParaRPr lang="en-US" sz="1300" dirty="0"/>
          </a:p>
        </p:txBody>
      </p:sp>
      <p:sp>
        <p:nvSpPr>
          <p:cNvPr id="11" name="Shape 7"/>
          <p:cNvSpPr/>
          <p:nvPr/>
        </p:nvSpPr>
        <p:spPr>
          <a:xfrm>
            <a:off x="7569200" y="3987800"/>
            <a:ext cx="127000" cy="127000"/>
          </a:xfrm>
          <a:prstGeom prst="ellipse">
            <a:avLst/>
          </a:prstGeom>
          <a:solidFill>
            <a:srgbClr val="C21F27"/>
          </a:solidFill>
          <a:ln w="12700">
            <a:solidFill>
              <a:srgbClr val="C21F27"/>
            </a:solidFill>
            <a:prstDash val="solid"/>
          </a:ln>
        </p:spPr>
      </p:sp>
      <p:sp>
        <p:nvSpPr>
          <p:cNvPr id="12" name="Text 8"/>
          <p:cNvSpPr txBox="1"/>
          <p:nvPr/>
        </p:nvSpPr>
        <p:spPr>
          <a:xfrm>
            <a:off x="7823200" y="39370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Live video</a:t>
            </a:r>
            <a:endParaRPr lang="en-US" sz="1400" dirty="0"/>
          </a:p>
        </p:txBody>
      </p:sp>
      <p:sp>
        <p:nvSpPr>
          <p:cNvPr id="13" name="Text 9"/>
          <p:cNvSpPr txBox="1"/>
          <p:nvPr/>
        </p:nvSpPr>
        <p:spPr>
          <a:xfrm>
            <a:off x="7823200" y="42164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HQ watches a responder's camera when the field unit goes live.</a:t>
            </a:r>
            <a:endParaRPr lang="en-US" sz="1300" dirty="0"/>
          </a:p>
        </p:txBody>
      </p:sp>
      <p:sp>
        <p:nvSpPr>
          <p:cNvPr id="14" name="Shape 10"/>
          <p:cNvSpPr/>
          <p:nvPr/>
        </p:nvSpPr>
        <p:spPr>
          <a:xfrm>
            <a:off x="7569200" y="4940300"/>
            <a:ext cx="127000" cy="127000"/>
          </a:xfrm>
          <a:prstGeom prst="ellipse">
            <a:avLst/>
          </a:prstGeom>
          <a:solidFill>
            <a:srgbClr val="C21F27"/>
          </a:solidFill>
          <a:ln w="12700">
            <a:solidFill>
              <a:srgbClr val="C21F27"/>
            </a:solidFill>
            <a:prstDash val="solid"/>
          </a:ln>
        </p:spPr>
      </p:sp>
      <p:sp>
        <p:nvSpPr>
          <p:cNvPr id="15" name="Text 11"/>
          <p:cNvSpPr txBox="1"/>
          <p:nvPr/>
        </p:nvSpPr>
        <p:spPr>
          <a:xfrm>
            <a:off x="7823200" y="4889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Reply and log</a:t>
            </a:r>
            <a:endParaRPr lang="en-US" sz="1400" dirty="0"/>
          </a:p>
        </p:txBody>
      </p:sp>
      <p:sp>
        <p:nvSpPr>
          <p:cNvPr id="16" name="Text 12"/>
          <p:cNvSpPr txBox="1"/>
          <p:nvPr/>
        </p:nvSpPr>
        <p:spPr>
          <a:xfrm>
            <a:off x="7823200" y="5168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Message the reporter; every action is timestamped and named.</a:t>
            </a:r>
            <a:endParaRPr lang="en-US" sz="13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HQ CONSOLE · RESPONSE</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Dispatch responders, or escalate</a:t>
            </a:r>
            <a:endParaRPr lang="en-US" sz="3200" dirty="0"/>
          </a:p>
        </p:txBody>
      </p:sp>
      <p:sp>
        <p:nvSpPr>
          <p:cNvPr id="5" name="Shape 2"/>
          <p:cNvSpPr/>
          <p:nvPr/>
        </p:nvSpPr>
        <p:spPr>
          <a:xfrm>
            <a:off x="812800" y="1905000"/>
            <a:ext cx="4978400" cy="3111500"/>
          </a:xfrm>
          <a:prstGeom prst="roundRect">
            <a:avLst>
              <a:gd name="adj" fmla="val 2351"/>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Responder picker with live GPS and readiness">    </p:cNvPr>
          <p:cNvPicPr>
            <a:picLocks noChangeAspect="1"/>
          </p:cNvPicPr>
          <p:nvPr/>
        </p:nvPicPr>
        <p:blipFill>
          <a:blip r:embed="rId1"/>
          <a:stretch>
            <a:fillRect/>
          </a:stretch>
        </p:blipFill>
        <p:spPr>
          <a:xfrm>
            <a:off x="863600" y="1936750"/>
            <a:ext cx="4876800" cy="3048000"/>
          </a:xfrm>
          <a:prstGeom prst="rect">
            <a:avLst/>
          </a:prstGeom>
        </p:spPr>
      </p:pic>
      <p:sp>
        <p:nvSpPr>
          <p:cNvPr id="7" name="Text 3"/>
          <p:cNvSpPr txBox="1"/>
          <p:nvPr/>
        </p:nvSpPr>
        <p:spPr>
          <a:xfrm>
            <a:off x="812800" y="5156200"/>
            <a:ext cx="49784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Dispatch</a:t>
            </a:r>
            <a:endParaRPr lang="en-US" sz="1500" dirty="0"/>
          </a:p>
        </p:txBody>
      </p:sp>
      <p:sp>
        <p:nvSpPr>
          <p:cNvPr id="8" name="Text 4"/>
          <p:cNvSpPr txBox="1"/>
          <p:nvPr/>
        </p:nvSpPr>
        <p:spPr>
          <a:xfrm>
            <a:off x="812800" y="5435600"/>
            <a:ext cx="4978400" cy="508000"/>
          </a:xfrm>
          <a:prstGeom prst="rect">
            <a:avLst/>
          </a:prstGeom>
          <a:noFill/>
          <a:ln/>
        </p:spPr>
        <p:txBody>
          <a:bodyPr wrap="square" lIns="0" tIns="0" rIns="0" bIns="0" rtlCol="0" anchor="t"/>
          <a:lstStyle/>
          <a:p>
            <a:pPr indent="0" marL="0">
              <a:buNone/>
            </a:pPr>
            <a:r>
              <a:rPr lang="en-US" sz="1400" dirty="0">
                <a:solidFill>
                  <a:srgbClr val="4A4F57"/>
                </a:solidFill>
                <a:latin typeface="Arial" pitchFamily="34" charset="0"/>
                <a:ea typeface="Arial" pitchFamily="34" charset="-122"/>
                <a:cs typeface="Arial" pitchFamily="34" charset="-120"/>
              </a:rPr>
              <a:t>Pick one or more responders, with live GPS and readiness shown.</a:t>
            </a:r>
            <a:endParaRPr lang="en-US" sz="1400" dirty="0"/>
          </a:p>
        </p:txBody>
      </p:sp>
      <p:sp>
        <p:nvSpPr>
          <p:cNvPr id="9" name="Shape 5"/>
          <p:cNvSpPr/>
          <p:nvPr/>
        </p:nvSpPr>
        <p:spPr>
          <a:xfrm>
            <a:off x="6400800" y="1905000"/>
            <a:ext cx="4978400" cy="3111500"/>
          </a:xfrm>
          <a:prstGeom prst="roundRect">
            <a:avLst>
              <a:gd name="adj" fmla="val 2351"/>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10" name="Image 1" descr="Inter-agency escalation form">    </p:cNvPr>
          <p:cNvPicPr>
            <a:picLocks noChangeAspect="1"/>
          </p:cNvPicPr>
          <p:nvPr/>
        </p:nvPicPr>
        <p:blipFill>
          <a:blip r:embed="rId2"/>
          <a:stretch>
            <a:fillRect/>
          </a:stretch>
        </p:blipFill>
        <p:spPr>
          <a:xfrm>
            <a:off x="6451600" y="1936750"/>
            <a:ext cx="4876800" cy="3048000"/>
          </a:xfrm>
          <a:prstGeom prst="rect">
            <a:avLst/>
          </a:prstGeom>
        </p:spPr>
      </p:pic>
      <p:sp>
        <p:nvSpPr>
          <p:cNvPr id="11" name="Text 6"/>
          <p:cNvSpPr txBox="1"/>
          <p:nvPr/>
        </p:nvSpPr>
        <p:spPr>
          <a:xfrm>
            <a:off x="6400800" y="5156200"/>
            <a:ext cx="49784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Escalate</a:t>
            </a:r>
            <a:endParaRPr lang="en-US" sz="1500" dirty="0"/>
          </a:p>
        </p:txBody>
      </p:sp>
      <p:sp>
        <p:nvSpPr>
          <p:cNvPr id="12" name="Text 7"/>
          <p:cNvSpPr txBox="1"/>
          <p:nvPr/>
        </p:nvSpPr>
        <p:spPr>
          <a:xfrm>
            <a:off x="6400800" y="5435600"/>
            <a:ext cx="4978400" cy="508000"/>
          </a:xfrm>
          <a:prstGeom prst="rect">
            <a:avLst/>
          </a:prstGeom>
          <a:noFill/>
          <a:ln/>
        </p:spPr>
        <p:txBody>
          <a:bodyPr wrap="square" lIns="0" tIns="0" rIns="0" bIns="0" rtlCol="0" anchor="t"/>
          <a:lstStyle/>
          <a:p>
            <a:pPr indent="0" marL="0">
              <a:buNone/>
            </a:pPr>
            <a:r>
              <a:rPr lang="en-US" sz="1400" dirty="0">
                <a:solidFill>
                  <a:srgbClr val="4A4F57"/>
                </a:solidFill>
                <a:latin typeface="Arial" pitchFamily="34" charset="0"/>
                <a:ea typeface="Arial" pitchFamily="34" charset="-122"/>
                <a:cs typeface="Arial" pitchFamily="34" charset="-120"/>
              </a:rPr>
              <a:t>Hand over to Police, Army, DSS, NSCDC, FRSC or Operation Safe Haven.</a:t>
            </a:r>
            <a:endParaRPr lang="en-US" sz="14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HQ CONSOLE · BROADCAST</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Warn the state, or one polling unit</a:t>
            </a:r>
            <a:endParaRPr lang="en-US" sz="3200" dirty="0"/>
          </a:p>
        </p:txBody>
      </p:sp>
      <p:sp>
        <p:nvSpPr>
          <p:cNvPr id="5" name="Shape 2"/>
          <p:cNvSpPr/>
          <p:nvPr/>
        </p:nvSpPr>
        <p:spPr>
          <a:xfrm>
            <a:off x="812800" y="1905000"/>
            <a:ext cx="6350000" cy="3968750"/>
          </a:xfrm>
          <a:prstGeom prst="roundRect">
            <a:avLst>
              <a:gd name="adj" fmla="val 1843"/>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Communications and broadcast form with severity, audience, target sector and templates">    </p:cNvPr>
          <p:cNvPicPr>
            <a:picLocks noChangeAspect="1"/>
          </p:cNvPicPr>
          <p:nvPr/>
        </p:nvPicPr>
        <p:blipFill>
          <a:blip r:embed="rId1"/>
          <a:stretch>
            <a:fillRect/>
          </a:stretch>
        </p:blipFill>
        <p:spPr>
          <a:xfrm>
            <a:off x="863600" y="1936750"/>
            <a:ext cx="6248400" cy="3905250"/>
          </a:xfrm>
          <a:prstGeom prst="rect">
            <a:avLst/>
          </a:prstGeom>
        </p:spPr>
      </p:pic>
      <p:sp>
        <p:nvSpPr>
          <p:cNvPr id="7" name="Text 3"/>
          <p:cNvSpPr txBox="1"/>
          <p:nvPr/>
        </p:nvSpPr>
        <p:spPr>
          <a:xfrm>
            <a:off x="7569200" y="1905000"/>
            <a:ext cx="3810000" cy="8890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Public safety advisories go out by push notification and SMS.</a:t>
            </a:r>
            <a:endParaRPr lang="en-US" sz="1500" dirty="0"/>
          </a:p>
        </p:txBody>
      </p:sp>
      <p:sp>
        <p:nvSpPr>
          <p:cNvPr id="8" name="Shape 4"/>
          <p:cNvSpPr/>
          <p:nvPr/>
        </p:nvSpPr>
        <p:spPr>
          <a:xfrm>
            <a:off x="7569200" y="3035300"/>
            <a:ext cx="127000" cy="127000"/>
          </a:xfrm>
          <a:prstGeom prst="ellipse">
            <a:avLst/>
          </a:prstGeom>
          <a:solidFill>
            <a:srgbClr val="C21F27"/>
          </a:solidFill>
          <a:ln w="12700">
            <a:solidFill>
              <a:srgbClr val="C21F27"/>
            </a:solidFill>
            <a:prstDash val="solid"/>
          </a:ln>
        </p:spPr>
      </p:sp>
      <p:sp>
        <p:nvSpPr>
          <p:cNvPr id="9" name="Text 5"/>
          <p:cNvSpPr txBox="1"/>
          <p:nvPr/>
        </p:nvSpPr>
        <p:spPr>
          <a:xfrm>
            <a:off x="7823200" y="2984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Who and how urgent</a:t>
            </a:r>
            <a:endParaRPr lang="en-US" sz="1400" dirty="0"/>
          </a:p>
        </p:txBody>
      </p:sp>
      <p:sp>
        <p:nvSpPr>
          <p:cNvPr id="10" name="Text 6"/>
          <p:cNvSpPr txBox="1"/>
          <p:nvPr/>
        </p:nvSpPr>
        <p:spPr>
          <a:xfrm>
            <a:off x="7823200" y="3263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Severity, audience, agency and how long the advisory stands.</a:t>
            </a:r>
            <a:endParaRPr lang="en-US" sz="1300" dirty="0"/>
          </a:p>
        </p:txBody>
      </p:sp>
      <p:sp>
        <p:nvSpPr>
          <p:cNvPr id="11" name="Shape 7"/>
          <p:cNvSpPr/>
          <p:nvPr/>
        </p:nvSpPr>
        <p:spPr>
          <a:xfrm>
            <a:off x="7569200" y="3987800"/>
            <a:ext cx="127000" cy="127000"/>
          </a:xfrm>
          <a:prstGeom prst="ellipse">
            <a:avLst/>
          </a:prstGeom>
          <a:solidFill>
            <a:srgbClr val="C21F27"/>
          </a:solidFill>
          <a:ln w="12700">
            <a:solidFill>
              <a:srgbClr val="C21F27"/>
            </a:solidFill>
            <a:prstDash val="solid"/>
          </a:ln>
        </p:spPr>
      </p:sp>
      <p:sp>
        <p:nvSpPr>
          <p:cNvPr id="12" name="Text 8"/>
          <p:cNvSpPr txBox="1"/>
          <p:nvPr/>
        </p:nvSpPr>
        <p:spPr>
          <a:xfrm>
            <a:off x="7823200" y="39370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Where</a:t>
            </a:r>
            <a:endParaRPr lang="en-US" sz="1400" dirty="0"/>
          </a:p>
        </p:txBody>
      </p:sp>
      <p:sp>
        <p:nvSpPr>
          <p:cNvPr id="13" name="Text 9"/>
          <p:cNvSpPr txBox="1"/>
          <p:nvPr/>
        </p:nvSpPr>
        <p:spPr>
          <a:xfrm>
            <a:off x="7823200" y="42164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Statewide, or narrowed to an LGA, ward or polling unit.</a:t>
            </a:r>
            <a:endParaRPr lang="en-US" sz="1300" dirty="0"/>
          </a:p>
        </p:txBody>
      </p:sp>
      <p:sp>
        <p:nvSpPr>
          <p:cNvPr id="14" name="Shape 10"/>
          <p:cNvSpPr/>
          <p:nvPr/>
        </p:nvSpPr>
        <p:spPr>
          <a:xfrm>
            <a:off x="7569200" y="4940300"/>
            <a:ext cx="127000" cy="127000"/>
          </a:xfrm>
          <a:prstGeom prst="ellipse">
            <a:avLst/>
          </a:prstGeom>
          <a:solidFill>
            <a:srgbClr val="C21F27"/>
          </a:solidFill>
          <a:ln w="12700">
            <a:solidFill>
              <a:srgbClr val="C21F27"/>
            </a:solidFill>
            <a:prstDash val="solid"/>
          </a:ln>
        </p:spPr>
      </p:sp>
      <p:sp>
        <p:nvSpPr>
          <p:cNvPr id="15" name="Text 11"/>
          <p:cNvSpPr txBox="1"/>
          <p:nvPr/>
        </p:nvSpPr>
        <p:spPr>
          <a:xfrm>
            <a:off x="7823200" y="4889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Ready-made messages</a:t>
            </a:r>
            <a:endParaRPr lang="en-US" sz="1400" dirty="0"/>
          </a:p>
        </p:txBody>
      </p:sp>
      <p:sp>
        <p:nvSpPr>
          <p:cNvPr id="16" name="Text 12"/>
          <p:cNvSpPr txBox="1"/>
          <p:nvPr/>
        </p:nvSpPr>
        <p:spPr>
          <a:xfrm>
            <a:off x="7823200" y="5168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Templates for alerts, advisories, all-clear and refuge notices.</a:t>
            </a:r>
            <a:endParaRPr lang="en-US" sz="13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HQ CONSOLE · AGENCY PORTAL</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Partner agencies work in their own portal</a:t>
            </a:r>
            <a:endParaRPr lang="en-US" sz="3200" dirty="0"/>
          </a:p>
        </p:txBody>
      </p:sp>
      <p:sp>
        <p:nvSpPr>
          <p:cNvPr id="5" name="Text 2"/>
          <p:cNvSpPr txBox="1"/>
          <p:nvPr/>
        </p:nvSpPr>
        <p:spPr>
          <a:xfrm>
            <a:off x="812800" y="1714500"/>
            <a:ext cx="10566400" cy="317500"/>
          </a:xfrm>
          <a:prstGeom prst="rect">
            <a:avLst/>
          </a:prstGeom>
          <a:noFill/>
          <a:ln/>
        </p:spPr>
        <p:txBody>
          <a:bodyPr wrap="square" lIns="0" tIns="0" rIns="0" bIns="0" rtlCol="0" anchor="t"/>
          <a:lstStyle/>
          <a:p>
            <a:pPr indent="0" marL="0">
              <a:buNone/>
            </a:pPr>
            <a:r>
              <a:rPr lang="en-US" sz="1500" dirty="0">
                <a:solidFill>
                  <a:srgbClr val="4A4F57"/>
                </a:solidFill>
                <a:latin typeface="Arial" pitchFamily="34" charset="0"/>
                <a:ea typeface="Arial" pitchFamily="34" charset="-122"/>
                <a:cs typeface="Arial" pitchFamily="34" charset="-120"/>
              </a:rPr>
              <a:t>Each agency liaison sees only the incidents HQ has escalated to them.</a:t>
            </a:r>
            <a:endParaRPr lang="en-US" sz="1500" dirty="0"/>
          </a:p>
        </p:txBody>
      </p:sp>
      <p:sp>
        <p:nvSpPr>
          <p:cNvPr id="6" name="Shape 3"/>
          <p:cNvSpPr/>
          <p:nvPr/>
        </p:nvSpPr>
        <p:spPr>
          <a:xfrm>
            <a:off x="812800" y="2286000"/>
            <a:ext cx="3251200" cy="2032000"/>
          </a:xfrm>
          <a:prstGeom prst="roundRect">
            <a:avLst>
              <a:gd name="adj" fmla="val 3600"/>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7" name="Image 0" descr="Army portal personnel list">    </p:cNvPr>
          <p:cNvPicPr>
            <a:picLocks noChangeAspect="1"/>
          </p:cNvPicPr>
          <p:nvPr/>
        </p:nvPicPr>
        <p:blipFill>
          <a:blip r:embed="rId1"/>
          <a:stretch>
            <a:fillRect/>
          </a:stretch>
        </p:blipFill>
        <p:spPr>
          <a:xfrm>
            <a:off x="863600" y="2317750"/>
            <a:ext cx="3149600" cy="1968500"/>
          </a:xfrm>
          <a:prstGeom prst="rect">
            <a:avLst/>
          </a:prstGeom>
        </p:spPr>
      </p:pic>
      <p:sp>
        <p:nvSpPr>
          <p:cNvPr id="8" name="Text 4"/>
          <p:cNvSpPr txBox="1"/>
          <p:nvPr/>
        </p:nvSpPr>
        <p:spPr>
          <a:xfrm>
            <a:off x="812800" y="4470400"/>
            <a:ext cx="32512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1 · Personnel</a:t>
            </a:r>
            <a:endParaRPr lang="en-US" sz="1500" dirty="0"/>
          </a:p>
        </p:txBody>
      </p:sp>
      <p:sp>
        <p:nvSpPr>
          <p:cNvPr id="9" name="Text 5"/>
          <p:cNvSpPr txBox="1"/>
          <p:nvPr/>
        </p:nvSpPr>
        <p:spPr>
          <a:xfrm>
            <a:off x="812800" y="4749800"/>
            <a:ext cx="3251200" cy="635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Add officers and set each one available, deployed or off duty.</a:t>
            </a:r>
            <a:endParaRPr lang="en-US" sz="1400" dirty="0"/>
          </a:p>
        </p:txBody>
      </p:sp>
      <p:sp>
        <p:nvSpPr>
          <p:cNvPr id="10" name="Shape 6"/>
          <p:cNvSpPr/>
          <p:nvPr/>
        </p:nvSpPr>
        <p:spPr>
          <a:xfrm>
            <a:off x="4470400" y="2286000"/>
            <a:ext cx="3251200" cy="2032000"/>
          </a:xfrm>
          <a:prstGeom prst="roundRect">
            <a:avLst>
              <a:gd name="adj" fmla="val 3600"/>
            </a:avLst>
          </a:prstGeom>
          <a:solidFill>
            <a:srgbClr val="1B1D22"/>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11" name="Image 1" descr="Deploy personnel dialog">    </p:cNvPr>
          <p:cNvPicPr>
            <a:picLocks noChangeAspect="1"/>
          </p:cNvPicPr>
          <p:nvPr/>
        </p:nvPicPr>
        <p:blipFill>
          <a:blip r:embed="rId2"/>
          <a:stretch>
            <a:fillRect/>
          </a:stretch>
        </p:blipFill>
        <p:spPr>
          <a:xfrm>
            <a:off x="4521200" y="2317750"/>
            <a:ext cx="3149600" cy="1968500"/>
          </a:xfrm>
          <a:prstGeom prst="rect">
            <a:avLst/>
          </a:prstGeom>
        </p:spPr>
      </p:pic>
      <p:sp>
        <p:nvSpPr>
          <p:cNvPr id="12" name="Text 7"/>
          <p:cNvSpPr txBox="1"/>
          <p:nvPr/>
        </p:nvSpPr>
        <p:spPr>
          <a:xfrm>
            <a:off x="4470400" y="4470400"/>
            <a:ext cx="32512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2 · Deploy</a:t>
            </a:r>
            <a:endParaRPr lang="en-US" sz="1500" dirty="0"/>
          </a:p>
        </p:txBody>
      </p:sp>
      <p:sp>
        <p:nvSpPr>
          <p:cNvPr id="13" name="Text 8"/>
          <p:cNvSpPr txBox="1"/>
          <p:nvPr/>
        </p:nvSpPr>
        <p:spPr>
          <a:xfrm>
            <a:off x="4470400" y="4749800"/>
            <a:ext cx="3251200" cy="635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Assign officers to an escalated incident, with a note for HQ.</a:t>
            </a:r>
            <a:endParaRPr lang="en-US" sz="1400" dirty="0"/>
          </a:p>
        </p:txBody>
      </p:sp>
      <p:sp>
        <p:nvSpPr>
          <p:cNvPr id="14" name="Shape 9"/>
          <p:cNvSpPr/>
          <p:nvPr/>
        </p:nvSpPr>
        <p:spPr>
          <a:xfrm>
            <a:off x="8128000" y="2286000"/>
            <a:ext cx="3251200" cy="2032000"/>
          </a:xfrm>
          <a:prstGeom prst="roundRect">
            <a:avLst>
              <a:gd name="adj" fmla="val 3600"/>
            </a:avLst>
          </a:prstGeom>
          <a:solidFill>
            <a:srgbClr val="1B1D22"/>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15" name="Image 2" descr="File action report to HQ dialog">    </p:cNvPr>
          <p:cNvPicPr>
            <a:picLocks noChangeAspect="1"/>
          </p:cNvPicPr>
          <p:nvPr/>
        </p:nvPicPr>
        <p:blipFill>
          <a:blip r:embed="rId3"/>
          <a:stretch>
            <a:fillRect/>
          </a:stretch>
        </p:blipFill>
        <p:spPr>
          <a:xfrm>
            <a:off x="8178800" y="2317750"/>
            <a:ext cx="3149600" cy="1968500"/>
          </a:xfrm>
          <a:prstGeom prst="rect">
            <a:avLst/>
          </a:prstGeom>
        </p:spPr>
      </p:pic>
      <p:sp>
        <p:nvSpPr>
          <p:cNvPr id="16" name="Text 10"/>
          <p:cNvSpPr txBox="1"/>
          <p:nvPr/>
        </p:nvSpPr>
        <p:spPr>
          <a:xfrm>
            <a:off x="8128000" y="4470400"/>
            <a:ext cx="32512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3 · Report back</a:t>
            </a:r>
            <a:endParaRPr lang="en-US" sz="1500" dirty="0"/>
          </a:p>
        </p:txBody>
      </p:sp>
      <p:sp>
        <p:nvSpPr>
          <p:cNvPr id="17" name="Text 11"/>
          <p:cNvSpPr txBox="1"/>
          <p:nvPr/>
        </p:nvSpPr>
        <p:spPr>
          <a:xfrm>
            <a:off x="8128000" y="4749800"/>
            <a:ext cx="3251200" cy="635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File situation reports to HQ, which acknowledges each one.</a:t>
            </a:r>
            <a:endParaRPr lang="en-US" sz="14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812800" y="1905000"/>
            <a:ext cx="2540000" cy="444500"/>
          </a:xfrm>
          <a:prstGeom prst="rect">
            <a:avLst/>
          </a:prstGeom>
          <a:noFill/>
          <a:ln/>
        </p:spPr>
        <p:txBody>
          <a:bodyPr wrap="square" lIns="0" tIns="0" rIns="0" bIns="0" rtlCol="0" anchor="t"/>
          <a:lstStyle/>
          <a:p>
            <a:pPr indent="0" marL="0">
              <a:buNone/>
            </a:pPr>
            <a:r>
              <a:rPr lang="en-US" sz="2200" b="1" dirty="0">
                <a:solidFill>
                  <a:srgbClr val="F7C9CB"/>
                </a:solidFill>
                <a:latin typeface="Arial" pitchFamily="34" charset="0"/>
                <a:ea typeface="Arial" pitchFamily="34" charset="-122"/>
                <a:cs typeface="Arial" pitchFamily="34" charset="-120"/>
              </a:rPr>
              <a:t>03</a:t>
            </a:r>
            <a:endParaRPr lang="en-US" sz="2200" dirty="0"/>
          </a:p>
        </p:txBody>
      </p:sp>
      <p:sp>
        <p:nvSpPr>
          <p:cNvPr id="4" name="Text 0"/>
          <p:cNvSpPr/>
          <p:nvPr>
            <p:ph idx="100" type="title" hasCustomPrompt="1"/>
          </p:nvPr>
        </p:nvSpPr>
        <p:spPr>
          <a:xfrm>
            <a:off x="812800" y="2540000"/>
            <a:ext cx="10566400" cy="952500"/>
          </a:xfrm>
          <a:prstGeom prst="rect">
            <a:avLst/>
          </a:prstGeom>
          <a:noFill/>
          <a:ln/>
        </p:spPr>
        <p:txBody>
          <a:bodyPr wrap="square" lIns="0" tIns="0" rIns="0" bIns="0" rtlCol="0" anchor="t"/>
          <a:lstStyle/>
          <a:p>
            <a:pPr algn="l" indent="0" marL="0">
              <a:buNone/>
            </a:pPr>
            <a:r>
              <a:rPr lang="en-US" sz="6000" b="1" dirty="0">
                <a:solidFill>
                  <a:srgbClr val="FBF7F3"/>
                </a:solidFill>
                <a:latin typeface="Arial" pitchFamily="34" charset="0"/>
                <a:ea typeface="Arial" pitchFamily="34" charset="-122"/>
                <a:cs typeface="Arial" pitchFamily="34" charset="-120"/>
              </a:rPr>
              <a:t>Administration</a:t>
            </a:r>
            <a:endParaRPr lang="en-US" sz="6000" dirty="0"/>
          </a:p>
        </p:txBody>
      </p:sp>
      <p:sp>
        <p:nvSpPr>
          <p:cNvPr id="5" name="Text 2"/>
          <p:cNvSpPr txBox="1"/>
          <p:nvPr/>
        </p:nvSpPr>
        <p:spPr>
          <a:xfrm>
            <a:off x="812800" y="3683000"/>
            <a:ext cx="8255000" cy="889000"/>
          </a:xfrm>
          <a:prstGeom prst="rect">
            <a:avLst/>
          </a:prstGeom>
          <a:noFill/>
          <a:ln/>
        </p:spPr>
        <p:txBody>
          <a:bodyPr wrap="square" lIns="0" tIns="0" rIns="0" bIns="0" rtlCol="0" anchor="t"/>
          <a:lstStyle/>
          <a:p>
            <a:pPr indent="0" marL="0">
              <a:lnSpc>
                <a:spcPct val="120000"/>
              </a:lnSpc>
              <a:buNone/>
            </a:pPr>
            <a:r>
              <a:rPr lang="en-US" sz="2200" dirty="0">
                <a:solidFill>
                  <a:srgbClr val="FBF7F3"/>
                </a:solidFill>
                <a:latin typeface="Arial" pitchFamily="34" charset="0"/>
                <a:ea typeface="Arial" pitchFamily="34" charset="-122"/>
                <a:cs typeface="Arial" pitchFamily="34" charset="-120"/>
              </a:rPr>
              <a:t>Staff accounts, system rules and approvals, available only to HQ command.</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ADMINISTRATION · AGENT DIRECTORY</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Create and manage staff accounts</a:t>
            </a:r>
            <a:endParaRPr lang="en-US" sz="3200" dirty="0"/>
          </a:p>
        </p:txBody>
      </p:sp>
      <p:sp>
        <p:nvSpPr>
          <p:cNvPr id="5" name="Shape 2"/>
          <p:cNvSpPr/>
          <p:nvPr/>
        </p:nvSpPr>
        <p:spPr>
          <a:xfrm>
            <a:off x="812800" y="1905000"/>
            <a:ext cx="6350000" cy="3968750"/>
          </a:xfrm>
          <a:prstGeom prst="roundRect">
            <a:avLst>
              <a:gd name="adj" fmla="val 1843"/>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Agent directory with the officer provisioning form and personnel directory">    </p:cNvPr>
          <p:cNvPicPr>
            <a:picLocks noChangeAspect="1"/>
          </p:cNvPicPr>
          <p:nvPr/>
        </p:nvPicPr>
        <p:blipFill>
          <a:blip r:embed="rId1"/>
          <a:stretch>
            <a:fillRect/>
          </a:stretch>
        </p:blipFill>
        <p:spPr>
          <a:xfrm>
            <a:off x="863600" y="1936750"/>
            <a:ext cx="6248400" cy="3905250"/>
          </a:xfrm>
          <a:prstGeom prst="rect">
            <a:avLst/>
          </a:prstGeom>
        </p:spPr>
      </p:pic>
      <p:sp>
        <p:nvSpPr>
          <p:cNvPr id="7" name="Text 3"/>
          <p:cNvSpPr txBox="1"/>
          <p:nvPr/>
        </p:nvSpPr>
        <p:spPr>
          <a:xfrm>
            <a:off x="7569200" y="1905000"/>
            <a:ext cx="3810000" cy="889000"/>
          </a:xfrm>
          <a:prstGeom prst="rect">
            <a:avLst/>
          </a:prstGeom>
          <a:noFill/>
          <a:ln/>
        </p:spPr>
        <p:txBody>
          <a:bodyPr wrap="square" lIns="0" tIns="0" rIns="0" bIns="0" rtlCol="0" anchor="t"/>
          <a:lstStyle/>
          <a:p>
            <a:pPr indent="0" marL="0">
              <a:lnSpc>
                <a:spcPct val="120000"/>
              </a:lnSpc>
              <a:buNone/>
            </a:pPr>
            <a:r>
              <a:rPr lang="en-US" sz="1500" dirty="0">
                <a:solidFill>
                  <a:srgbClr val="4A4F57"/>
                </a:solidFill>
                <a:latin typeface="Arial" pitchFamily="34" charset="0"/>
                <a:ea typeface="Arial" pitchFamily="34" charset="-122"/>
                <a:cs typeface="Arial" pitchFamily="34" charset="-120"/>
              </a:rPr>
              <a:t>HQ provisions every officer account. Nobody can give themselves a role.</a:t>
            </a:r>
            <a:endParaRPr lang="en-US" sz="1500" dirty="0"/>
          </a:p>
        </p:txBody>
      </p:sp>
      <p:sp>
        <p:nvSpPr>
          <p:cNvPr id="8" name="Shape 4"/>
          <p:cNvSpPr/>
          <p:nvPr/>
        </p:nvSpPr>
        <p:spPr>
          <a:xfrm>
            <a:off x="7569200" y="3035300"/>
            <a:ext cx="127000" cy="127000"/>
          </a:xfrm>
          <a:prstGeom prst="ellipse">
            <a:avLst/>
          </a:prstGeom>
          <a:solidFill>
            <a:srgbClr val="C21F27"/>
          </a:solidFill>
          <a:ln w="12700">
            <a:solidFill>
              <a:srgbClr val="C21F27"/>
            </a:solidFill>
            <a:prstDash val="solid"/>
          </a:ln>
        </p:spPr>
      </p:sp>
      <p:sp>
        <p:nvSpPr>
          <p:cNvPr id="9" name="Text 5"/>
          <p:cNvSpPr txBox="1"/>
          <p:nvPr/>
        </p:nvSpPr>
        <p:spPr>
          <a:xfrm>
            <a:off x="7823200" y="2984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Provision an officer</a:t>
            </a:r>
            <a:endParaRPr lang="en-US" sz="1400" dirty="0"/>
          </a:p>
        </p:txBody>
      </p:sp>
      <p:sp>
        <p:nvSpPr>
          <p:cNvPr id="10" name="Text 6"/>
          <p:cNvSpPr txBox="1"/>
          <p:nvPr/>
        </p:nvSpPr>
        <p:spPr>
          <a:xfrm>
            <a:off x="7823200" y="3263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Name, email or badge ID, password, command role and agency.</a:t>
            </a:r>
            <a:endParaRPr lang="en-US" sz="1300" dirty="0"/>
          </a:p>
        </p:txBody>
      </p:sp>
      <p:sp>
        <p:nvSpPr>
          <p:cNvPr id="11" name="Shape 7"/>
          <p:cNvSpPr/>
          <p:nvPr/>
        </p:nvSpPr>
        <p:spPr>
          <a:xfrm>
            <a:off x="7569200" y="3987800"/>
            <a:ext cx="127000" cy="127000"/>
          </a:xfrm>
          <a:prstGeom prst="ellipse">
            <a:avLst/>
          </a:prstGeom>
          <a:solidFill>
            <a:srgbClr val="C21F27"/>
          </a:solidFill>
          <a:ln w="12700">
            <a:solidFill>
              <a:srgbClr val="C21F27"/>
            </a:solidFill>
            <a:prstDash val="solid"/>
          </a:ln>
        </p:spPr>
      </p:sp>
      <p:sp>
        <p:nvSpPr>
          <p:cNvPr id="12" name="Text 8"/>
          <p:cNvSpPr txBox="1"/>
          <p:nvPr/>
        </p:nvSpPr>
        <p:spPr>
          <a:xfrm>
            <a:off x="7823200" y="39370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Roles set on the server</a:t>
            </a:r>
            <a:endParaRPr lang="en-US" sz="1400" dirty="0"/>
          </a:p>
        </p:txBody>
      </p:sp>
      <p:sp>
        <p:nvSpPr>
          <p:cNvPr id="13" name="Text 9"/>
          <p:cNvSpPr txBox="1"/>
          <p:nvPr/>
        </p:nvSpPr>
        <p:spPr>
          <a:xfrm>
            <a:off x="7823200" y="42164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The role is written by the server, never from the browser.</a:t>
            </a:r>
            <a:endParaRPr lang="en-US" sz="1300" dirty="0"/>
          </a:p>
        </p:txBody>
      </p:sp>
      <p:sp>
        <p:nvSpPr>
          <p:cNvPr id="14" name="Shape 10"/>
          <p:cNvSpPr/>
          <p:nvPr/>
        </p:nvSpPr>
        <p:spPr>
          <a:xfrm>
            <a:off x="7569200" y="4940300"/>
            <a:ext cx="127000" cy="127000"/>
          </a:xfrm>
          <a:prstGeom prst="ellipse">
            <a:avLst/>
          </a:prstGeom>
          <a:solidFill>
            <a:srgbClr val="C21F27"/>
          </a:solidFill>
          <a:ln w="12700">
            <a:solidFill>
              <a:srgbClr val="C21F27"/>
            </a:solidFill>
            <a:prstDash val="solid"/>
          </a:ln>
        </p:spPr>
      </p:sp>
      <p:sp>
        <p:nvSpPr>
          <p:cNvPr id="15" name="Text 11"/>
          <p:cNvSpPr txBox="1"/>
          <p:nvPr/>
        </p:nvSpPr>
        <p:spPr>
          <a:xfrm>
            <a:off x="7823200" y="4889500"/>
            <a:ext cx="3556000" cy="254000"/>
          </a:xfrm>
          <a:prstGeom prst="rect">
            <a:avLst/>
          </a:prstGeom>
          <a:noFill/>
          <a:ln/>
        </p:spPr>
        <p:txBody>
          <a:bodyPr wrap="square" lIns="0" tIns="0" rIns="0" bIns="0" rtlCol="0" anchor="t"/>
          <a:lstStyle/>
          <a:p>
            <a:pPr indent="0" marL="0">
              <a:buNone/>
            </a:pPr>
            <a:r>
              <a:rPr lang="en-US" sz="1400" b="1" dirty="0">
                <a:solidFill>
                  <a:srgbClr val="1B1D22"/>
                </a:solidFill>
                <a:latin typeface="Arial" pitchFamily="34" charset="0"/>
                <a:ea typeface="Arial" pitchFamily="34" charset="-122"/>
                <a:cs typeface="Arial" pitchFamily="34" charset="-120"/>
              </a:rPr>
              <a:t>One directory</a:t>
            </a:r>
            <a:endParaRPr lang="en-US" sz="1400" dirty="0"/>
          </a:p>
        </p:txBody>
      </p:sp>
      <p:sp>
        <p:nvSpPr>
          <p:cNvPr id="16" name="Text 12"/>
          <p:cNvSpPr txBox="1"/>
          <p:nvPr/>
        </p:nvSpPr>
        <p:spPr>
          <a:xfrm>
            <a:off x="7823200" y="5168900"/>
            <a:ext cx="3556000" cy="508000"/>
          </a:xfrm>
          <a:prstGeom prst="rect">
            <a:avLst/>
          </a:prstGeom>
          <a:noFill/>
          <a:ln/>
        </p:spPr>
        <p:txBody>
          <a:bodyPr wrap="square" lIns="0" tIns="0" rIns="0" bIns="0" rtlCol="0" anchor="t"/>
          <a:lstStyle/>
          <a:p>
            <a:pPr indent="0" marL="0">
              <a:lnSpc>
                <a:spcPct val="115000"/>
              </a:lnSpc>
              <a:buNone/>
            </a:pPr>
            <a:r>
              <a:rPr lang="en-US" sz="1300" dirty="0">
                <a:solidFill>
                  <a:srgbClr val="4A4F57"/>
                </a:solidFill>
                <a:latin typeface="Arial" pitchFamily="34" charset="0"/>
                <a:ea typeface="Arial" pitchFamily="34" charset="-122"/>
                <a:cs typeface="Arial" pitchFamily="34" charset="-120"/>
              </a:rPr>
              <a:t>Every person across agencies, with role, sector and district.</a:t>
            </a:r>
            <a:endParaRPr lang="en-US" sz="13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ADMINISTRATION · RULES AND APPROVALS</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Set the rules, approve the exceptions</a:t>
            </a:r>
            <a:endParaRPr lang="en-US" sz="3200" dirty="0"/>
          </a:p>
        </p:txBody>
      </p:sp>
      <p:sp>
        <p:nvSpPr>
          <p:cNvPr id="5" name="Shape 2"/>
          <p:cNvSpPr/>
          <p:nvPr/>
        </p:nvSpPr>
        <p:spPr>
          <a:xfrm>
            <a:off x="812800" y="1905000"/>
            <a:ext cx="4978400" cy="3111500"/>
          </a:xfrm>
          <a:prstGeom prst="roundRect">
            <a:avLst>
              <a:gd name="adj" fmla="val 2351"/>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6" name="Image 0" descr="System Logic escalation timeouts">    </p:cNvPr>
          <p:cNvPicPr>
            <a:picLocks noChangeAspect="1"/>
          </p:cNvPicPr>
          <p:nvPr/>
        </p:nvPicPr>
        <p:blipFill>
          <a:blip r:embed="rId1"/>
          <a:stretch>
            <a:fillRect/>
          </a:stretch>
        </p:blipFill>
        <p:spPr>
          <a:xfrm>
            <a:off x="863600" y="1936750"/>
            <a:ext cx="4876800" cy="3048000"/>
          </a:xfrm>
          <a:prstGeom prst="rect">
            <a:avLst/>
          </a:prstGeom>
        </p:spPr>
      </p:pic>
      <p:sp>
        <p:nvSpPr>
          <p:cNvPr id="7" name="Text 3"/>
          <p:cNvSpPr txBox="1"/>
          <p:nvPr/>
        </p:nvSpPr>
        <p:spPr>
          <a:xfrm>
            <a:off x="812800" y="5156200"/>
            <a:ext cx="49784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System logic</a:t>
            </a:r>
            <a:endParaRPr lang="en-US" sz="1500" dirty="0"/>
          </a:p>
        </p:txBody>
      </p:sp>
      <p:sp>
        <p:nvSpPr>
          <p:cNvPr id="8" name="Text 4"/>
          <p:cNvSpPr txBox="1"/>
          <p:nvPr/>
        </p:nvSpPr>
        <p:spPr>
          <a:xfrm>
            <a:off x="812800" y="5435600"/>
            <a:ext cx="4978400" cy="508000"/>
          </a:xfrm>
          <a:prstGeom prst="rect">
            <a:avLst/>
          </a:prstGeom>
          <a:noFill/>
          <a:ln/>
        </p:spPr>
        <p:txBody>
          <a:bodyPr wrap="square" lIns="0" tIns="0" rIns="0" bIns="0" rtlCol="0" anchor="t"/>
          <a:lstStyle/>
          <a:p>
            <a:pPr indent="0" marL="0">
              <a:buNone/>
            </a:pPr>
            <a:r>
              <a:rPr lang="en-US" sz="1400" dirty="0">
                <a:solidFill>
                  <a:srgbClr val="4A4F57"/>
                </a:solidFill>
                <a:latin typeface="Arial" pitchFamily="34" charset="0"/>
                <a:ea typeface="Arial" pitchFamily="34" charset="-122"/>
                <a:cs typeface="Arial" pitchFamily="34" charset="-120"/>
              </a:rPr>
              <a:t>How long each level has before an alert moves up: 2, 5 and 10 minutes.</a:t>
            </a:r>
            <a:endParaRPr lang="en-US" sz="1400" dirty="0"/>
          </a:p>
        </p:txBody>
      </p:sp>
      <p:sp>
        <p:nvSpPr>
          <p:cNvPr id="9" name="Shape 5"/>
          <p:cNvSpPr/>
          <p:nvPr/>
        </p:nvSpPr>
        <p:spPr>
          <a:xfrm>
            <a:off x="6400800" y="1905000"/>
            <a:ext cx="4978400" cy="3111500"/>
          </a:xfrm>
          <a:prstGeom prst="roundRect">
            <a:avLst>
              <a:gd name="adj" fmla="val 2351"/>
            </a:avLst>
          </a:prstGeom>
          <a:solidFill>
            <a:srgbClr val="FFFFFF"/>
          </a:solidFill>
          <a:ln w="12700">
            <a:solidFill>
              <a:srgbClr val="D9D2C9"/>
            </a:solidFill>
            <a:prstDash val="solid"/>
          </a:ln>
          <a:effectLst>
            <a:outerShdw sx="100000" sy="100000" kx="0" ky="0" algn="bl" rotWithShape="0" blurRad="127000" dist="63500" dir="5400000">
              <a:srgbClr val="1B1D22">
                <a:alpha val="14000"/>
              </a:srgbClr>
            </a:outerShdw>
          </a:effectLst>
        </p:spPr>
      </p:sp>
      <p:pic>
        <p:nvPicPr>
          <p:cNvPr id="10" name="Image 1" descr="Uninstall requests with Approve and Deny">    </p:cNvPr>
          <p:cNvPicPr>
            <a:picLocks noChangeAspect="1"/>
          </p:cNvPicPr>
          <p:nvPr/>
        </p:nvPicPr>
        <p:blipFill>
          <a:blip r:embed="rId2"/>
          <a:stretch>
            <a:fillRect/>
          </a:stretch>
        </p:blipFill>
        <p:spPr>
          <a:xfrm>
            <a:off x="6451600" y="1936750"/>
            <a:ext cx="4876800" cy="3048000"/>
          </a:xfrm>
          <a:prstGeom prst="rect">
            <a:avLst/>
          </a:prstGeom>
        </p:spPr>
      </p:pic>
      <p:sp>
        <p:nvSpPr>
          <p:cNvPr id="11" name="Text 6"/>
          <p:cNvSpPr txBox="1"/>
          <p:nvPr/>
        </p:nvSpPr>
        <p:spPr>
          <a:xfrm>
            <a:off x="6400800" y="5156200"/>
            <a:ext cx="49784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Uninstall requests</a:t>
            </a:r>
            <a:endParaRPr lang="en-US" sz="1500" dirty="0"/>
          </a:p>
        </p:txBody>
      </p:sp>
      <p:sp>
        <p:nvSpPr>
          <p:cNvPr id="12" name="Text 7"/>
          <p:cNvSpPr txBox="1"/>
          <p:nvPr/>
        </p:nvSpPr>
        <p:spPr>
          <a:xfrm>
            <a:off x="6400800" y="5435600"/>
            <a:ext cx="4978400" cy="508000"/>
          </a:xfrm>
          <a:prstGeom prst="rect">
            <a:avLst/>
          </a:prstGeom>
          <a:noFill/>
          <a:ln/>
        </p:spPr>
        <p:txBody>
          <a:bodyPr wrap="square" lIns="0" tIns="0" rIns="0" bIns="0" rtlCol="0" anchor="t"/>
          <a:lstStyle/>
          <a:p>
            <a:pPr indent="0" marL="0">
              <a:buNone/>
            </a:pPr>
            <a:r>
              <a:rPr lang="en-US" sz="1400" dirty="0">
                <a:solidFill>
                  <a:srgbClr val="4A4F57"/>
                </a:solidFill>
                <a:latin typeface="Arial" pitchFamily="34" charset="0"/>
                <a:ea typeface="Arial" pitchFamily="34" charset="-122"/>
                <a:cs typeface="Arial" pitchFamily="34" charset="-120"/>
              </a:rPr>
              <a:t>Removing the app from a registered phone needs HQ approval.</a:t>
            </a:r>
            <a:endParaRPr lang="en-US" sz="14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300" kern="0" dirty="0">
                <a:solidFill>
                  <a:srgbClr val="C21F27"/>
                </a:solidFill>
                <a:latin typeface="Arial" pitchFamily="34" charset="0"/>
                <a:ea typeface="Arial" pitchFamily="34" charset="-122"/>
                <a:cs typeface="Arial" pitchFamily="34" charset="-120"/>
              </a:rPr>
              <a:t>END TO END</a:t>
            </a:r>
            <a:endParaRPr lang="en-US" sz="1200" dirty="0"/>
          </a:p>
        </p:txBody>
      </p:sp>
      <p:sp>
        <p:nvSpPr>
          <p:cNvPr id="4" name="Text 1"/>
          <p:cNvSpPr/>
          <p:nvPr>
            <p:ph idx="101" type="title" hasCustomPrompt="1"/>
          </p:nvPr>
        </p:nvSpPr>
        <p:spPr>
          <a:xfrm>
            <a:off x="812800" y="1117600"/>
            <a:ext cx="10566400" cy="508000"/>
          </a:xfrm>
          <a:prstGeom prst="rect">
            <a:avLst/>
          </a:prstGeom>
          <a:noFill/>
          <a:ln/>
        </p:spPr>
        <p:txBody>
          <a:bodyPr wrap="square" lIns="0" tIns="0" rIns="0" bIns="0" rtlCol="0" anchor="t"/>
          <a:lstStyle/>
          <a:p>
            <a:pPr algn="l" indent="0" marL="0">
              <a:buNone/>
            </a:pPr>
            <a:r>
              <a:rPr lang="en-US" sz="3200" b="1" dirty="0">
                <a:solidFill>
                  <a:srgbClr val="1B1D22"/>
                </a:solidFill>
                <a:latin typeface="Arial" pitchFamily="34" charset="0"/>
                <a:ea typeface="Arial" pitchFamily="34" charset="-122"/>
                <a:cs typeface="Arial" pitchFamily="34" charset="-120"/>
              </a:rPr>
              <a:t>One incident, from phone to resolution</a:t>
            </a:r>
            <a:endParaRPr lang="en-US" sz="3200" dirty="0"/>
          </a:p>
        </p:txBody>
      </p:sp>
      <p:sp>
        <p:nvSpPr>
          <p:cNvPr id="5" name="Shape 2"/>
          <p:cNvSpPr/>
          <p:nvPr/>
        </p:nvSpPr>
        <p:spPr>
          <a:xfrm>
            <a:off x="812800" y="2095500"/>
            <a:ext cx="1498600" cy="1587500"/>
          </a:xfrm>
          <a:prstGeom prst="roundRect">
            <a:avLst>
              <a:gd name="adj" fmla="val 6102"/>
            </a:avLst>
          </a:prstGeom>
          <a:solidFill>
            <a:srgbClr val="1B1D22"/>
          </a:solidFill>
          <a:ln w="12700">
            <a:solidFill>
              <a:srgbClr val="1B1D22"/>
            </a:solidFill>
            <a:prstDash val="solid"/>
          </a:ln>
        </p:spPr>
      </p:sp>
      <p:sp>
        <p:nvSpPr>
          <p:cNvPr id="6" name="Text 3"/>
          <p:cNvSpPr txBox="1"/>
          <p:nvPr/>
        </p:nvSpPr>
        <p:spPr>
          <a:xfrm>
            <a:off x="939800" y="2260600"/>
            <a:ext cx="1244600" cy="508000"/>
          </a:xfrm>
          <a:prstGeom prst="rect">
            <a:avLst/>
          </a:prstGeom>
          <a:noFill/>
          <a:ln/>
        </p:spPr>
        <p:txBody>
          <a:bodyPr wrap="square" lIns="0" tIns="0" rIns="0" bIns="0" rtlCol="0" anchor="t"/>
          <a:lstStyle/>
          <a:p>
            <a:pPr indent="0" marL="0">
              <a:buNone/>
            </a:pPr>
            <a:r>
              <a:rPr lang="en-US" sz="1500" b="1" dirty="0">
                <a:solidFill>
                  <a:srgbClr val="F6F3EF"/>
                </a:solidFill>
                <a:latin typeface="Arial" pitchFamily="34" charset="0"/>
                <a:ea typeface="Arial" pitchFamily="34" charset="-122"/>
                <a:cs typeface="Arial" pitchFamily="34" charset="-120"/>
              </a:rPr>
              <a:t>Citizen</a:t>
            </a:r>
            <a:endParaRPr lang="en-US" sz="1500" dirty="0"/>
          </a:p>
        </p:txBody>
      </p:sp>
      <p:sp>
        <p:nvSpPr>
          <p:cNvPr id="7" name="Text 4"/>
          <p:cNvSpPr txBox="1"/>
          <p:nvPr/>
        </p:nvSpPr>
        <p:spPr>
          <a:xfrm>
            <a:off x="939800" y="2794000"/>
            <a:ext cx="1244600" cy="825500"/>
          </a:xfrm>
          <a:prstGeom prst="rect">
            <a:avLst/>
          </a:prstGeom>
          <a:noFill/>
          <a:ln/>
        </p:spPr>
        <p:txBody>
          <a:bodyPr wrap="square" lIns="0" tIns="0" rIns="0" bIns="0" rtlCol="0" anchor="t"/>
          <a:lstStyle/>
          <a:p>
            <a:pPr indent="0" marL="0">
              <a:lnSpc>
                <a:spcPct val="110000"/>
              </a:lnSpc>
              <a:buNone/>
            </a:pPr>
            <a:r>
              <a:rPr lang="en-US" sz="1300" dirty="0">
                <a:solidFill>
                  <a:srgbClr val="C9C4BD"/>
                </a:solidFill>
                <a:latin typeface="Arial" pitchFamily="34" charset="0"/>
                <a:ea typeface="Arial" pitchFamily="34" charset="-122"/>
                <a:cs typeface="Arial" pitchFamily="34" charset="-120"/>
              </a:rPr>
              <a:t>Raises SOS or files a report</a:t>
            </a:r>
            <a:endParaRPr lang="en-US" sz="1300" dirty="0"/>
          </a:p>
        </p:txBody>
      </p:sp>
      <p:sp>
        <p:nvSpPr>
          <p:cNvPr id="8" name="Shape 5"/>
          <p:cNvSpPr/>
          <p:nvPr/>
        </p:nvSpPr>
        <p:spPr>
          <a:xfrm>
            <a:off x="2362200" y="2825750"/>
            <a:ext cx="215900" cy="139700"/>
          </a:xfrm>
          <a:prstGeom prst="rightArrow">
            <a:avLst/>
          </a:prstGeom>
          <a:solidFill>
            <a:srgbClr val="C21F27"/>
          </a:solidFill>
          <a:ln w="12700">
            <a:solidFill>
              <a:srgbClr val="C21F27"/>
            </a:solidFill>
            <a:prstDash val="solid"/>
          </a:ln>
        </p:spPr>
      </p:sp>
      <p:sp>
        <p:nvSpPr>
          <p:cNvPr id="9" name="Shape 6"/>
          <p:cNvSpPr/>
          <p:nvPr/>
        </p:nvSpPr>
        <p:spPr>
          <a:xfrm>
            <a:off x="2628900" y="2095500"/>
            <a:ext cx="1498600" cy="1587500"/>
          </a:xfrm>
          <a:prstGeom prst="roundRect">
            <a:avLst>
              <a:gd name="adj" fmla="val 6102"/>
            </a:avLst>
          </a:prstGeom>
          <a:solidFill>
            <a:srgbClr val="FBF9F6"/>
          </a:solidFill>
          <a:ln w="12700">
            <a:solidFill>
              <a:srgbClr val="D9D2C9"/>
            </a:solidFill>
            <a:prstDash val="solid"/>
          </a:ln>
        </p:spPr>
      </p:sp>
      <p:sp>
        <p:nvSpPr>
          <p:cNvPr id="10" name="Text 7"/>
          <p:cNvSpPr txBox="1"/>
          <p:nvPr/>
        </p:nvSpPr>
        <p:spPr>
          <a:xfrm>
            <a:off x="2755900" y="2260600"/>
            <a:ext cx="1244600" cy="508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Polling unit</a:t>
            </a:r>
            <a:endParaRPr lang="en-US" sz="1500" dirty="0"/>
          </a:p>
        </p:txBody>
      </p:sp>
      <p:sp>
        <p:nvSpPr>
          <p:cNvPr id="11" name="Text 8"/>
          <p:cNvSpPr txBox="1"/>
          <p:nvPr/>
        </p:nvSpPr>
        <p:spPr>
          <a:xfrm>
            <a:off x="2755900" y="2794000"/>
            <a:ext cx="1244600" cy="825500"/>
          </a:xfrm>
          <a:prstGeom prst="rect">
            <a:avLst/>
          </a:prstGeom>
          <a:noFill/>
          <a:ln/>
        </p:spPr>
        <p:txBody>
          <a:bodyPr wrap="square" lIns="0" tIns="0" rIns="0" bIns="0" rtlCol="0" anchor="t"/>
          <a:lstStyle/>
          <a:p>
            <a:pPr indent="0" marL="0">
              <a:lnSpc>
                <a:spcPct val="110000"/>
              </a:lnSpc>
              <a:buNone/>
            </a:pPr>
            <a:r>
              <a:rPr lang="en-US" sz="1300" dirty="0">
                <a:solidFill>
                  <a:srgbClr val="4A4F57"/>
                </a:solidFill>
                <a:latin typeface="Arial" pitchFamily="34" charset="0"/>
                <a:ea typeface="Arial" pitchFamily="34" charset="-122"/>
                <a:cs typeface="Arial" pitchFamily="34" charset="-120"/>
              </a:rPr>
              <a:t>First to act, 2 minutes</a:t>
            </a:r>
            <a:endParaRPr lang="en-US" sz="1300" dirty="0"/>
          </a:p>
        </p:txBody>
      </p:sp>
      <p:sp>
        <p:nvSpPr>
          <p:cNvPr id="12" name="Shape 9"/>
          <p:cNvSpPr/>
          <p:nvPr/>
        </p:nvSpPr>
        <p:spPr>
          <a:xfrm>
            <a:off x="4178300" y="2825750"/>
            <a:ext cx="215900" cy="139700"/>
          </a:xfrm>
          <a:prstGeom prst="rightArrow">
            <a:avLst/>
          </a:prstGeom>
          <a:solidFill>
            <a:srgbClr val="C21F27"/>
          </a:solidFill>
          <a:ln w="12700">
            <a:solidFill>
              <a:srgbClr val="C21F27"/>
            </a:solidFill>
            <a:prstDash val="solid"/>
          </a:ln>
        </p:spPr>
      </p:sp>
      <p:sp>
        <p:nvSpPr>
          <p:cNvPr id="13" name="Shape 10"/>
          <p:cNvSpPr/>
          <p:nvPr/>
        </p:nvSpPr>
        <p:spPr>
          <a:xfrm>
            <a:off x="4445000" y="2095500"/>
            <a:ext cx="1498600" cy="1587500"/>
          </a:xfrm>
          <a:prstGeom prst="roundRect">
            <a:avLst>
              <a:gd name="adj" fmla="val 6102"/>
            </a:avLst>
          </a:prstGeom>
          <a:solidFill>
            <a:srgbClr val="FBF9F6"/>
          </a:solidFill>
          <a:ln w="12700">
            <a:solidFill>
              <a:srgbClr val="D9D2C9"/>
            </a:solidFill>
            <a:prstDash val="solid"/>
          </a:ln>
        </p:spPr>
      </p:sp>
      <p:sp>
        <p:nvSpPr>
          <p:cNvPr id="14" name="Text 11"/>
          <p:cNvSpPr txBox="1"/>
          <p:nvPr/>
        </p:nvSpPr>
        <p:spPr>
          <a:xfrm>
            <a:off x="4572000" y="2260600"/>
            <a:ext cx="1244600" cy="508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Ward</a:t>
            </a:r>
            <a:endParaRPr lang="en-US" sz="1500" dirty="0"/>
          </a:p>
        </p:txBody>
      </p:sp>
      <p:sp>
        <p:nvSpPr>
          <p:cNvPr id="15" name="Text 12"/>
          <p:cNvSpPr txBox="1"/>
          <p:nvPr/>
        </p:nvSpPr>
        <p:spPr>
          <a:xfrm>
            <a:off x="4572000" y="2794000"/>
            <a:ext cx="1244600" cy="825500"/>
          </a:xfrm>
          <a:prstGeom prst="rect">
            <a:avLst/>
          </a:prstGeom>
          <a:noFill/>
          <a:ln/>
        </p:spPr>
        <p:txBody>
          <a:bodyPr wrap="square" lIns="0" tIns="0" rIns="0" bIns="0" rtlCol="0" anchor="t"/>
          <a:lstStyle/>
          <a:p>
            <a:pPr indent="0" marL="0">
              <a:lnSpc>
                <a:spcPct val="110000"/>
              </a:lnSpc>
              <a:buNone/>
            </a:pPr>
            <a:r>
              <a:rPr lang="en-US" sz="1300" dirty="0">
                <a:solidFill>
                  <a:srgbClr val="4A4F57"/>
                </a:solidFill>
                <a:latin typeface="Arial" pitchFamily="34" charset="0"/>
                <a:ea typeface="Arial" pitchFamily="34" charset="-122"/>
                <a:cs typeface="Arial" pitchFamily="34" charset="-120"/>
              </a:rPr>
              <a:t>Next level, 5 minutes</a:t>
            </a:r>
            <a:endParaRPr lang="en-US" sz="1300" dirty="0"/>
          </a:p>
        </p:txBody>
      </p:sp>
      <p:sp>
        <p:nvSpPr>
          <p:cNvPr id="16" name="Shape 13"/>
          <p:cNvSpPr/>
          <p:nvPr/>
        </p:nvSpPr>
        <p:spPr>
          <a:xfrm>
            <a:off x="5994400" y="2825750"/>
            <a:ext cx="215900" cy="139700"/>
          </a:xfrm>
          <a:prstGeom prst="rightArrow">
            <a:avLst/>
          </a:prstGeom>
          <a:solidFill>
            <a:srgbClr val="C21F27"/>
          </a:solidFill>
          <a:ln w="12700">
            <a:solidFill>
              <a:srgbClr val="C21F27"/>
            </a:solidFill>
            <a:prstDash val="solid"/>
          </a:ln>
        </p:spPr>
      </p:sp>
      <p:sp>
        <p:nvSpPr>
          <p:cNvPr id="17" name="Shape 14"/>
          <p:cNvSpPr/>
          <p:nvPr/>
        </p:nvSpPr>
        <p:spPr>
          <a:xfrm>
            <a:off x="6261100" y="2095500"/>
            <a:ext cx="1498600" cy="1587500"/>
          </a:xfrm>
          <a:prstGeom prst="roundRect">
            <a:avLst>
              <a:gd name="adj" fmla="val 6102"/>
            </a:avLst>
          </a:prstGeom>
          <a:solidFill>
            <a:srgbClr val="FBF9F6"/>
          </a:solidFill>
          <a:ln w="12700">
            <a:solidFill>
              <a:srgbClr val="D9D2C9"/>
            </a:solidFill>
            <a:prstDash val="solid"/>
          </a:ln>
        </p:spPr>
      </p:sp>
      <p:sp>
        <p:nvSpPr>
          <p:cNvPr id="18" name="Text 15"/>
          <p:cNvSpPr txBox="1"/>
          <p:nvPr/>
        </p:nvSpPr>
        <p:spPr>
          <a:xfrm>
            <a:off x="6388100" y="2260600"/>
            <a:ext cx="1244600" cy="508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LGA</a:t>
            </a:r>
            <a:endParaRPr lang="en-US" sz="1500" dirty="0"/>
          </a:p>
        </p:txBody>
      </p:sp>
      <p:sp>
        <p:nvSpPr>
          <p:cNvPr id="19" name="Text 16"/>
          <p:cNvSpPr txBox="1"/>
          <p:nvPr/>
        </p:nvSpPr>
        <p:spPr>
          <a:xfrm>
            <a:off x="6388100" y="2794000"/>
            <a:ext cx="1244600" cy="825500"/>
          </a:xfrm>
          <a:prstGeom prst="rect">
            <a:avLst/>
          </a:prstGeom>
          <a:noFill/>
          <a:ln/>
        </p:spPr>
        <p:txBody>
          <a:bodyPr wrap="square" lIns="0" tIns="0" rIns="0" bIns="0" rtlCol="0" anchor="t"/>
          <a:lstStyle/>
          <a:p>
            <a:pPr indent="0" marL="0">
              <a:lnSpc>
                <a:spcPct val="110000"/>
              </a:lnSpc>
              <a:buNone/>
            </a:pPr>
            <a:r>
              <a:rPr lang="en-US" sz="1300" dirty="0">
                <a:solidFill>
                  <a:srgbClr val="4A4F57"/>
                </a:solidFill>
                <a:latin typeface="Arial" pitchFamily="34" charset="0"/>
                <a:ea typeface="Arial" pitchFamily="34" charset="-122"/>
                <a:cs typeface="Arial" pitchFamily="34" charset="-120"/>
              </a:rPr>
              <a:t>Next level, 10 minutes</a:t>
            </a:r>
            <a:endParaRPr lang="en-US" sz="1300" dirty="0"/>
          </a:p>
        </p:txBody>
      </p:sp>
      <p:sp>
        <p:nvSpPr>
          <p:cNvPr id="20" name="Shape 17"/>
          <p:cNvSpPr/>
          <p:nvPr/>
        </p:nvSpPr>
        <p:spPr>
          <a:xfrm>
            <a:off x="7810500" y="2825750"/>
            <a:ext cx="215900" cy="139700"/>
          </a:xfrm>
          <a:prstGeom prst="rightArrow">
            <a:avLst/>
          </a:prstGeom>
          <a:solidFill>
            <a:srgbClr val="C21F27"/>
          </a:solidFill>
          <a:ln w="12700">
            <a:solidFill>
              <a:srgbClr val="C21F27"/>
            </a:solidFill>
            <a:prstDash val="solid"/>
          </a:ln>
        </p:spPr>
      </p:sp>
      <p:sp>
        <p:nvSpPr>
          <p:cNvPr id="21" name="Shape 18"/>
          <p:cNvSpPr/>
          <p:nvPr/>
        </p:nvSpPr>
        <p:spPr>
          <a:xfrm>
            <a:off x="8077200" y="2095500"/>
            <a:ext cx="1498600" cy="1587500"/>
          </a:xfrm>
          <a:prstGeom prst="roundRect">
            <a:avLst>
              <a:gd name="adj" fmla="val 6102"/>
            </a:avLst>
          </a:prstGeom>
          <a:solidFill>
            <a:srgbClr val="C21F27"/>
          </a:solidFill>
          <a:ln w="12700">
            <a:solidFill>
              <a:srgbClr val="C21F27"/>
            </a:solidFill>
            <a:prstDash val="solid"/>
          </a:ln>
        </p:spPr>
      </p:sp>
      <p:sp>
        <p:nvSpPr>
          <p:cNvPr id="22" name="Text 19"/>
          <p:cNvSpPr txBox="1"/>
          <p:nvPr/>
        </p:nvSpPr>
        <p:spPr>
          <a:xfrm>
            <a:off x="8204200" y="2260600"/>
            <a:ext cx="1244600" cy="508000"/>
          </a:xfrm>
          <a:prstGeom prst="rect">
            <a:avLst/>
          </a:prstGeom>
          <a:noFill/>
          <a:ln/>
        </p:spPr>
        <p:txBody>
          <a:bodyPr wrap="square" lIns="0" tIns="0" rIns="0" bIns="0" rtlCol="0" anchor="t"/>
          <a:lstStyle/>
          <a:p>
            <a:pPr indent="0" marL="0">
              <a:buNone/>
            </a:pPr>
            <a:r>
              <a:rPr lang="en-US" sz="1500" b="1" dirty="0">
                <a:solidFill>
                  <a:srgbClr val="FBF7F3"/>
                </a:solidFill>
                <a:latin typeface="Arial" pitchFamily="34" charset="0"/>
                <a:ea typeface="Arial" pitchFamily="34" charset="-122"/>
                <a:cs typeface="Arial" pitchFamily="34" charset="-120"/>
              </a:rPr>
              <a:t>HQ</a:t>
            </a:r>
            <a:endParaRPr lang="en-US" sz="1500" dirty="0"/>
          </a:p>
        </p:txBody>
      </p:sp>
      <p:sp>
        <p:nvSpPr>
          <p:cNvPr id="23" name="Text 20"/>
          <p:cNvSpPr txBox="1"/>
          <p:nvPr/>
        </p:nvSpPr>
        <p:spPr>
          <a:xfrm>
            <a:off x="8204200" y="2794000"/>
            <a:ext cx="1244600" cy="825500"/>
          </a:xfrm>
          <a:prstGeom prst="rect">
            <a:avLst/>
          </a:prstGeom>
          <a:noFill/>
          <a:ln/>
        </p:spPr>
        <p:txBody>
          <a:bodyPr wrap="square" lIns="0" tIns="0" rIns="0" bIns="0" rtlCol="0" anchor="t"/>
          <a:lstStyle/>
          <a:p>
            <a:pPr indent="0" marL="0">
              <a:lnSpc>
                <a:spcPct val="110000"/>
              </a:lnSpc>
              <a:buNone/>
            </a:pPr>
            <a:r>
              <a:rPr lang="en-US" sz="1300" dirty="0">
                <a:solidFill>
                  <a:srgbClr val="FBF7F3"/>
                </a:solidFill>
                <a:latin typeface="Arial" pitchFamily="34" charset="0"/>
                <a:ea typeface="Arial" pitchFamily="34" charset="-122"/>
                <a:cs typeface="Arial" pitchFamily="34" charset="-120"/>
              </a:rPr>
              <a:t>Oversees all, can step in at any time</a:t>
            </a:r>
            <a:endParaRPr lang="en-US" sz="1300" dirty="0"/>
          </a:p>
        </p:txBody>
      </p:sp>
      <p:sp>
        <p:nvSpPr>
          <p:cNvPr id="24" name="Shape 21"/>
          <p:cNvSpPr/>
          <p:nvPr/>
        </p:nvSpPr>
        <p:spPr>
          <a:xfrm>
            <a:off x="9626600" y="2825750"/>
            <a:ext cx="215900" cy="139700"/>
          </a:xfrm>
          <a:prstGeom prst="rightArrow">
            <a:avLst/>
          </a:prstGeom>
          <a:solidFill>
            <a:srgbClr val="C21F27"/>
          </a:solidFill>
          <a:ln w="12700">
            <a:solidFill>
              <a:srgbClr val="C21F27"/>
            </a:solidFill>
            <a:prstDash val="solid"/>
          </a:ln>
        </p:spPr>
      </p:sp>
      <p:sp>
        <p:nvSpPr>
          <p:cNvPr id="25" name="Shape 22"/>
          <p:cNvSpPr/>
          <p:nvPr/>
        </p:nvSpPr>
        <p:spPr>
          <a:xfrm>
            <a:off x="9893300" y="2095500"/>
            <a:ext cx="1498600" cy="1587500"/>
          </a:xfrm>
          <a:prstGeom prst="roundRect">
            <a:avLst>
              <a:gd name="adj" fmla="val 6102"/>
            </a:avLst>
          </a:prstGeom>
          <a:solidFill>
            <a:srgbClr val="1B1D22"/>
          </a:solidFill>
          <a:ln w="12700">
            <a:solidFill>
              <a:srgbClr val="1B1D22"/>
            </a:solidFill>
            <a:prstDash val="solid"/>
          </a:ln>
        </p:spPr>
      </p:sp>
      <p:sp>
        <p:nvSpPr>
          <p:cNvPr id="26" name="Text 23"/>
          <p:cNvSpPr txBox="1"/>
          <p:nvPr/>
        </p:nvSpPr>
        <p:spPr>
          <a:xfrm>
            <a:off x="10020300" y="2260600"/>
            <a:ext cx="1244600" cy="508000"/>
          </a:xfrm>
          <a:prstGeom prst="rect">
            <a:avLst/>
          </a:prstGeom>
          <a:noFill/>
          <a:ln/>
        </p:spPr>
        <p:txBody>
          <a:bodyPr wrap="square" lIns="0" tIns="0" rIns="0" bIns="0" rtlCol="0" anchor="t"/>
          <a:lstStyle/>
          <a:p>
            <a:pPr indent="0" marL="0">
              <a:buNone/>
            </a:pPr>
            <a:r>
              <a:rPr lang="en-US" sz="1500" b="1" dirty="0">
                <a:solidFill>
                  <a:srgbClr val="F6F3EF"/>
                </a:solidFill>
                <a:latin typeface="Arial" pitchFamily="34" charset="0"/>
                <a:ea typeface="Arial" pitchFamily="34" charset="-122"/>
                <a:cs typeface="Arial" pitchFamily="34" charset="-120"/>
              </a:rPr>
              <a:t>Response</a:t>
            </a:r>
            <a:endParaRPr lang="en-US" sz="1500" dirty="0"/>
          </a:p>
        </p:txBody>
      </p:sp>
      <p:sp>
        <p:nvSpPr>
          <p:cNvPr id="27" name="Text 24"/>
          <p:cNvSpPr txBox="1"/>
          <p:nvPr/>
        </p:nvSpPr>
        <p:spPr>
          <a:xfrm>
            <a:off x="10020300" y="2794000"/>
            <a:ext cx="1244600" cy="825500"/>
          </a:xfrm>
          <a:prstGeom prst="rect">
            <a:avLst/>
          </a:prstGeom>
          <a:noFill/>
          <a:ln/>
        </p:spPr>
        <p:txBody>
          <a:bodyPr wrap="square" lIns="0" tIns="0" rIns="0" bIns="0" rtlCol="0" anchor="t"/>
          <a:lstStyle/>
          <a:p>
            <a:pPr indent="0" marL="0">
              <a:lnSpc>
                <a:spcPct val="110000"/>
              </a:lnSpc>
              <a:buNone/>
            </a:pPr>
            <a:r>
              <a:rPr lang="en-US" sz="1300" dirty="0">
                <a:solidFill>
                  <a:srgbClr val="C9C4BD"/>
                </a:solidFill>
                <a:latin typeface="Arial" pitchFamily="34" charset="0"/>
                <a:ea typeface="Arial" pitchFamily="34" charset="-122"/>
                <a:cs typeface="Arial" pitchFamily="34" charset="-120"/>
              </a:rPr>
              <a:t>Responders and agencies act, then report</a:t>
            </a:r>
            <a:endParaRPr lang="en-US" sz="1300" dirty="0"/>
          </a:p>
        </p:txBody>
      </p:sp>
      <p:sp>
        <p:nvSpPr>
          <p:cNvPr id="28" name="Shape 25"/>
          <p:cNvSpPr/>
          <p:nvPr/>
        </p:nvSpPr>
        <p:spPr>
          <a:xfrm>
            <a:off x="812800" y="4241800"/>
            <a:ext cx="127000" cy="127000"/>
          </a:xfrm>
          <a:prstGeom prst="ellipse">
            <a:avLst/>
          </a:prstGeom>
          <a:solidFill>
            <a:srgbClr val="C21F27"/>
          </a:solidFill>
          <a:ln w="12700">
            <a:solidFill>
              <a:srgbClr val="C21F27"/>
            </a:solidFill>
            <a:prstDash val="solid"/>
          </a:ln>
        </p:spPr>
      </p:sp>
      <p:sp>
        <p:nvSpPr>
          <p:cNvPr id="29" name="Text 26"/>
          <p:cNvSpPr txBox="1"/>
          <p:nvPr/>
        </p:nvSpPr>
        <p:spPr>
          <a:xfrm>
            <a:off x="1066800" y="4191000"/>
            <a:ext cx="4826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Moves up on its own</a:t>
            </a:r>
            <a:endParaRPr lang="en-US" sz="1500" dirty="0"/>
          </a:p>
        </p:txBody>
      </p:sp>
      <p:sp>
        <p:nvSpPr>
          <p:cNvPr id="30" name="Text 27"/>
          <p:cNvSpPr txBox="1"/>
          <p:nvPr/>
        </p:nvSpPr>
        <p:spPr>
          <a:xfrm>
            <a:off x="1066800" y="4470400"/>
            <a:ext cx="4826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If a level does not act in time, the server passes the alert up, even if that level is offline.</a:t>
            </a:r>
            <a:endParaRPr lang="en-US" sz="1400" dirty="0"/>
          </a:p>
        </p:txBody>
      </p:sp>
      <p:sp>
        <p:nvSpPr>
          <p:cNvPr id="31" name="Shape 28"/>
          <p:cNvSpPr/>
          <p:nvPr/>
        </p:nvSpPr>
        <p:spPr>
          <a:xfrm>
            <a:off x="6299200" y="4241800"/>
            <a:ext cx="127000" cy="127000"/>
          </a:xfrm>
          <a:prstGeom prst="ellipse">
            <a:avLst/>
          </a:prstGeom>
          <a:solidFill>
            <a:srgbClr val="C21F27"/>
          </a:solidFill>
          <a:ln w="12700">
            <a:solidFill>
              <a:srgbClr val="C21F27"/>
            </a:solidFill>
            <a:prstDash val="solid"/>
          </a:ln>
        </p:spPr>
      </p:sp>
      <p:sp>
        <p:nvSpPr>
          <p:cNvPr id="32" name="Text 29"/>
          <p:cNvSpPr txBox="1"/>
          <p:nvPr/>
        </p:nvSpPr>
        <p:spPr>
          <a:xfrm>
            <a:off x="6553200" y="4191000"/>
            <a:ext cx="4826000" cy="254000"/>
          </a:xfrm>
          <a:prstGeom prst="rect">
            <a:avLst/>
          </a:prstGeom>
          <a:noFill/>
          <a:ln/>
        </p:spPr>
        <p:txBody>
          <a:bodyPr wrap="square" lIns="0" tIns="0" rIns="0" bIns="0" rtlCol="0" anchor="t"/>
          <a:lstStyle/>
          <a:p>
            <a:pPr indent="0" marL="0">
              <a:buNone/>
            </a:pPr>
            <a:r>
              <a:rPr lang="en-US" sz="1500" b="1" dirty="0">
                <a:solidFill>
                  <a:srgbClr val="1B1D22"/>
                </a:solidFill>
                <a:latin typeface="Arial" pitchFamily="34" charset="0"/>
                <a:ea typeface="Arial" pitchFamily="34" charset="-122"/>
                <a:cs typeface="Arial" pitchFamily="34" charset="-120"/>
              </a:rPr>
              <a:t>Every step is on record</a:t>
            </a:r>
            <a:endParaRPr lang="en-US" sz="1500" dirty="0"/>
          </a:p>
        </p:txBody>
      </p:sp>
      <p:sp>
        <p:nvSpPr>
          <p:cNvPr id="33" name="Text 30"/>
          <p:cNvSpPr txBox="1"/>
          <p:nvPr/>
        </p:nvSpPr>
        <p:spPr>
          <a:xfrm>
            <a:off x="6553200" y="4470400"/>
            <a:ext cx="4826000" cy="508000"/>
          </a:xfrm>
          <a:prstGeom prst="rect">
            <a:avLst/>
          </a:prstGeom>
          <a:noFill/>
          <a:ln/>
        </p:spPr>
        <p:txBody>
          <a:bodyPr wrap="square" lIns="0" tIns="0" rIns="0" bIns="0" rtlCol="0" anchor="t"/>
          <a:lstStyle/>
          <a:p>
            <a:pPr indent="0" marL="0">
              <a:lnSpc>
                <a:spcPct val="115000"/>
              </a:lnSpc>
              <a:buNone/>
            </a:pPr>
            <a:r>
              <a:rPr lang="en-US" sz="1400" dirty="0">
                <a:solidFill>
                  <a:srgbClr val="4A4F57"/>
                </a:solidFill>
                <a:latin typeface="Arial" pitchFamily="34" charset="0"/>
                <a:ea typeface="Arial" pitchFamily="34" charset="-122"/>
                <a:cs typeface="Arial" pitchFamily="34" charset="-120"/>
              </a:rPr>
              <a:t>Who took it, when, and what they did. Resolved incidents move to Mission History.</a:t>
            </a:r>
            <a:endParaRPr lang="en-US" sz="1400" dirty="0"/>
          </a:p>
        </p:txBody>
      </p:sp>
      <p:sp>
        <p:nvSpPr>
          <p:cNvPr id="25" name="Slide Number Placeholder 0"/>
          <p:cNvSpPr>
            <a:spLocks noGrp="1"/>
          </p:cNvSpPr>
          <p:nvPr>
            <p:ph type="sldNum" sz="quarter" idx="4294967295"/>
          </p:nvPr>
        </p:nvSpPr>
        <p:spPr>
          <a:xfrm>
            <a:off x="10109200" y="6210300"/>
            <a:ext cx="1270000" cy="2540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A5F67"/>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812800" y="1397000"/>
            <a:ext cx="5080000" cy="254000"/>
          </a:xfrm>
          <a:prstGeom prst="rect">
            <a:avLst/>
          </a:prstGeom>
          <a:noFill/>
          <a:ln/>
        </p:spPr>
        <p:txBody>
          <a:bodyPr wrap="square" lIns="0" tIns="0" rIns="0" bIns="0" rtlCol="0" anchor="t"/>
          <a:lstStyle/>
          <a:p>
            <a:pPr indent="0" marL="0">
              <a:buNone/>
            </a:pPr>
            <a:r>
              <a:rPr lang="en-US" sz="1200" b="1" spc="400" kern="0" dirty="0">
                <a:solidFill>
                  <a:srgbClr val="F07A7F"/>
                </a:solidFill>
                <a:latin typeface="Arial" pitchFamily="34" charset="0"/>
                <a:ea typeface="Arial" pitchFamily="34" charset="-122"/>
                <a:cs typeface="Arial" pitchFamily="34" charset="-120"/>
              </a:rPr>
              <a:t>OPERATION RAINBOW</a:t>
            </a:r>
            <a:endParaRPr lang="en-US" sz="1200" dirty="0"/>
          </a:p>
        </p:txBody>
      </p:sp>
      <p:sp>
        <p:nvSpPr>
          <p:cNvPr id="4" name="Text 0"/>
          <p:cNvSpPr/>
          <p:nvPr>
            <p:ph idx="100" type="title" hasCustomPrompt="1"/>
          </p:nvPr>
        </p:nvSpPr>
        <p:spPr>
          <a:xfrm>
            <a:off x="812800" y="1905000"/>
            <a:ext cx="9525000" cy="1397000"/>
          </a:xfrm>
          <a:prstGeom prst="rect">
            <a:avLst/>
          </a:prstGeom>
          <a:noFill/>
          <a:ln/>
        </p:spPr>
        <p:txBody>
          <a:bodyPr wrap="square" lIns="0" tIns="0" rIns="0" bIns="0" rtlCol="0" anchor="t"/>
          <a:lstStyle/>
          <a:p>
            <a:pPr algn="l" indent="0" marL="0">
              <a:buNone/>
            </a:pPr>
            <a:r>
              <a:rPr lang="en-US" sz="4800" b="1" dirty="0">
                <a:solidFill>
                  <a:srgbClr val="F6F3EF"/>
                </a:solidFill>
                <a:latin typeface="Arial" pitchFamily="34" charset="0"/>
                <a:ea typeface="Arial" pitchFamily="34" charset="-122"/>
                <a:cs typeface="Arial" pitchFamily="34" charset="-120"/>
              </a:rPr>
              <a:t>From one tap on a phone to a coordinated response</a:t>
            </a:r>
            <a:endParaRPr lang="en-US" sz="4800" dirty="0"/>
          </a:p>
        </p:txBody>
      </p:sp>
      <p:sp>
        <p:nvSpPr>
          <p:cNvPr id="5" name="Shape 2"/>
          <p:cNvSpPr/>
          <p:nvPr/>
        </p:nvSpPr>
        <p:spPr>
          <a:xfrm>
            <a:off x="812800" y="3937000"/>
            <a:ext cx="2489200" cy="0"/>
          </a:xfrm>
          <a:prstGeom prst="line">
            <a:avLst/>
          </a:prstGeom>
          <a:noFill/>
          <a:ln w="25400">
            <a:solidFill>
              <a:srgbClr val="F07A7F"/>
            </a:solidFill>
            <a:prstDash val="solid"/>
          </a:ln>
        </p:spPr>
      </p:sp>
      <p:sp>
        <p:nvSpPr>
          <p:cNvPr id="6" name="Text 3"/>
          <p:cNvSpPr txBox="1"/>
          <p:nvPr/>
        </p:nvSpPr>
        <p:spPr>
          <a:xfrm>
            <a:off x="812800" y="4127500"/>
            <a:ext cx="2489200" cy="698500"/>
          </a:xfrm>
          <a:prstGeom prst="rect">
            <a:avLst/>
          </a:prstGeom>
          <a:noFill/>
          <a:ln/>
        </p:spPr>
        <p:txBody>
          <a:bodyPr wrap="square" lIns="0" tIns="0" rIns="0" bIns="0" rtlCol="0" anchor="t"/>
          <a:lstStyle/>
          <a:p>
            <a:pPr indent="0" marL="0">
              <a:buNone/>
            </a:pPr>
            <a:r>
              <a:rPr lang="en-US" sz="3600" b="1" dirty="0">
                <a:solidFill>
                  <a:srgbClr val="F6F3EF"/>
                </a:solidFill>
                <a:latin typeface="Arial" pitchFamily="34" charset="0"/>
                <a:ea typeface="Arial" pitchFamily="34" charset="-122"/>
                <a:cs typeface="Arial" pitchFamily="34" charset="-120"/>
              </a:rPr>
              <a:t>17</a:t>
            </a:r>
            <a:endParaRPr lang="en-US" sz="3600" dirty="0"/>
          </a:p>
        </p:txBody>
      </p:sp>
      <p:sp>
        <p:nvSpPr>
          <p:cNvPr id="7" name="Text 4"/>
          <p:cNvSpPr txBox="1"/>
          <p:nvPr/>
        </p:nvSpPr>
        <p:spPr>
          <a:xfrm>
            <a:off x="812800" y="4889500"/>
            <a:ext cx="2489200" cy="381000"/>
          </a:xfrm>
          <a:prstGeom prst="rect">
            <a:avLst/>
          </a:prstGeom>
          <a:noFill/>
          <a:ln/>
        </p:spPr>
        <p:txBody>
          <a:bodyPr wrap="square" lIns="0" tIns="0" rIns="0" bIns="0" rtlCol="0" anchor="t"/>
          <a:lstStyle/>
          <a:p>
            <a:pPr indent="0" marL="0">
              <a:buNone/>
            </a:pPr>
            <a:r>
              <a:rPr lang="en-US" sz="1400" dirty="0">
                <a:solidFill>
                  <a:srgbClr val="C9C4BD"/>
                </a:solidFill>
                <a:latin typeface="Arial" pitchFamily="34" charset="0"/>
                <a:ea typeface="Arial" pitchFamily="34" charset="-122"/>
                <a:cs typeface="Arial" pitchFamily="34" charset="-120"/>
              </a:rPr>
              <a:t>LGAs covered statewide</a:t>
            </a:r>
            <a:endParaRPr lang="en-US" sz="1400" dirty="0"/>
          </a:p>
        </p:txBody>
      </p:sp>
      <p:sp>
        <p:nvSpPr>
          <p:cNvPr id="8" name="Shape 5"/>
          <p:cNvSpPr/>
          <p:nvPr/>
        </p:nvSpPr>
        <p:spPr>
          <a:xfrm>
            <a:off x="3505200" y="3937000"/>
            <a:ext cx="2489200" cy="0"/>
          </a:xfrm>
          <a:prstGeom prst="line">
            <a:avLst/>
          </a:prstGeom>
          <a:noFill/>
          <a:ln w="25400">
            <a:solidFill>
              <a:srgbClr val="F07A7F"/>
            </a:solidFill>
            <a:prstDash val="solid"/>
          </a:ln>
        </p:spPr>
      </p:sp>
      <p:sp>
        <p:nvSpPr>
          <p:cNvPr id="9" name="Text 6"/>
          <p:cNvSpPr txBox="1"/>
          <p:nvPr/>
        </p:nvSpPr>
        <p:spPr>
          <a:xfrm>
            <a:off x="3505200" y="4127500"/>
            <a:ext cx="2489200" cy="698500"/>
          </a:xfrm>
          <a:prstGeom prst="rect">
            <a:avLst/>
          </a:prstGeom>
          <a:noFill/>
          <a:ln/>
        </p:spPr>
        <p:txBody>
          <a:bodyPr wrap="square" lIns="0" tIns="0" rIns="0" bIns="0" rtlCol="0" anchor="t"/>
          <a:lstStyle/>
          <a:p>
            <a:pPr indent="0" marL="0">
              <a:buNone/>
            </a:pPr>
            <a:r>
              <a:rPr lang="en-US" sz="3600" b="1" dirty="0">
                <a:solidFill>
                  <a:srgbClr val="F6F3EF"/>
                </a:solidFill>
                <a:latin typeface="Arial" pitchFamily="34" charset="0"/>
                <a:ea typeface="Arial" pitchFamily="34" charset="-122"/>
                <a:cs typeface="Arial" pitchFamily="34" charset="-120"/>
              </a:rPr>
              <a:t>6</a:t>
            </a:r>
            <a:endParaRPr lang="en-US" sz="3600" dirty="0"/>
          </a:p>
        </p:txBody>
      </p:sp>
      <p:sp>
        <p:nvSpPr>
          <p:cNvPr id="10" name="Text 7"/>
          <p:cNvSpPr txBox="1"/>
          <p:nvPr/>
        </p:nvSpPr>
        <p:spPr>
          <a:xfrm>
            <a:off x="3505200" y="4889500"/>
            <a:ext cx="2489200" cy="381000"/>
          </a:xfrm>
          <a:prstGeom prst="rect">
            <a:avLst/>
          </a:prstGeom>
          <a:noFill/>
          <a:ln/>
        </p:spPr>
        <p:txBody>
          <a:bodyPr wrap="square" lIns="0" tIns="0" rIns="0" bIns="0" rtlCol="0" anchor="t"/>
          <a:lstStyle/>
          <a:p>
            <a:pPr indent="0" marL="0">
              <a:buNone/>
            </a:pPr>
            <a:r>
              <a:rPr lang="en-US" sz="1400" dirty="0">
                <a:solidFill>
                  <a:srgbClr val="C9C4BD"/>
                </a:solidFill>
                <a:latin typeface="Arial" pitchFamily="34" charset="0"/>
                <a:ea typeface="Arial" pitchFamily="34" charset="-122"/>
                <a:cs typeface="Arial" pitchFamily="34" charset="-120"/>
              </a:rPr>
              <a:t>Partner agencies connected</a:t>
            </a:r>
            <a:endParaRPr lang="en-US" sz="1400" dirty="0"/>
          </a:p>
        </p:txBody>
      </p:sp>
      <p:sp>
        <p:nvSpPr>
          <p:cNvPr id="11" name="Shape 8"/>
          <p:cNvSpPr/>
          <p:nvPr/>
        </p:nvSpPr>
        <p:spPr>
          <a:xfrm>
            <a:off x="6197600" y="3937000"/>
            <a:ext cx="2489200" cy="0"/>
          </a:xfrm>
          <a:prstGeom prst="line">
            <a:avLst/>
          </a:prstGeom>
          <a:noFill/>
          <a:ln w="25400">
            <a:solidFill>
              <a:srgbClr val="F07A7F"/>
            </a:solidFill>
            <a:prstDash val="solid"/>
          </a:ln>
        </p:spPr>
      </p:sp>
      <p:sp>
        <p:nvSpPr>
          <p:cNvPr id="12" name="Text 9"/>
          <p:cNvSpPr txBox="1"/>
          <p:nvPr/>
        </p:nvSpPr>
        <p:spPr>
          <a:xfrm>
            <a:off x="6197600" y="4127500"/>
            <a:ext cx="2489200" cy="698500"/>
          </a:xfrm>
          <a:prstGeom prst="rect">
            <a:avLst/>
          </a:prstGeom>
          <a:noFill/>
          <a:ln/>
        </p:spPr>
        <p:txBody>
          <a:bodyPr wrap="square" lIns="0" tIns="0" rIns="0" bIns="0" rtlCol="0" anchor="t"/>
          <a:lstStyle/>
          <a:p>
            <a:pPr indent="0" marL="0">
              <a:buNone/>
            </a:pPr>
            <a:r>
              <a:rPr lang="en-US" sz="3600" b="1" dirty="0">
                <a:solidFill>
                  <a:srgbClr val="F6F3EF"/>
                </a:solidFill>
                <a:latin typeface="Arial" pitchFamily="34" charset="0"/>
                <a:ea typeface="Arial" pitchFamily="34" charset="-122"/>
                <a:cs typeface="Arial" pitchFamily="34" charset="-120"/>
              </a:rPr>
              <a:t>3</a:t>
            </a:r>
            <a:endParaRPr lang="en-US" sz="3600" dirty="0"/>
          </a:p>
        </p:txBody>
      </p:sp>
      <p:sp>
        <p:nvSpPr>
          <p:cNvPr id="13" name="Text 10"/>
          <p:cNvSpPr txBox="1"/>
          <p:nvPr/>
        </p:nvSpPr>
        <p:spPr>
          <a:xfrm>
            <a:off x="6197600" y="4889500"/>
            <a:ext cx="2489200" cy="381000"/>
          </a:xfrm>
          <a:prstGeom prst="rect">
            <a:avLst/>
          </a:prstGeom>
          <a:noFill/>
          <a:ln/>
        </p:spPr>
        <p:txBody>
          <a:bodyPr wrap="square" lIns="0" tIns="0" rIns="0" bIns="0" rtlCol="0" anchor="t"/>
          <a:lstStyle/>
          <a:p>
            <a:pPr indent="0" marL="0">
              <a:buNone/>
            </a:pPr>
            <a:r>
              <a:rPr lang="en-US" sz="1400" dirty="0">
                <a:solidFill>
                  <a:srgbClr val="C9C4BD"/>
                </a:solidFill>
                <a:latin typeface="Arial" pitchFamily="34" charset="0"/>
                <a:ea typeface="Arial" pitchFamily="34" charset="-122"/>
                <a:cs typeface="Arial" pitchFamily="34" charset="-120"/>
              </a:rPr>
              <a:t>Ways to reach HQ without data</a:t>
            </a:r>
            <a:endParaRPr lang="en-US" sz="1400" dirty="0"/>
          </a:p>
        </p:txBody>
      </p:sp>
      <p:sp>
        <p:nvSpPr>
          <p:cNvPr id="14" name="Shape 11"/>
          <p:cNvSpPr/>
          <p:nvPr/>
        </p:nvSpPr>
        <p:spPr>
          <a:xfrm>
            <a:off x="8890000" y="3937000"/>
            <a:ext cx="2489200" cy="0"/>
          </a:xfrm>
          <a:prstGeom prst="line">
            <a:avLst/>
          </a:prstGeom>
          <a:noFill/>
          <a:ln w="25400">
            <a:solidFill>
              <a:srgbClr val="F07A7F"/>
            </a:solidFill>
            <a:prstDash val="solid"/>
          </a:ln>
        </p:spPr>
      </p:sp>
      <p:sp>
        <p:nvSpPr>
          <p:cNvPr id="15" name="Text 12"/>
          <p:cNvSpPr txBox="1"/>
          <p:nvPr/>
        </p:nvSpPr>
        <p:spPr>
          <a:xfrm>
            <a:off x="8890000" y="4127500"/>
            <a:ext cx="2489200" cy="698500"/>
          </a:xfrm>
          <a:prstGeom prst="rect">
            <a:avLst/>
          </a:prstGeom>
          <a:noFill/>
          <a:ln/>
        </p:spPr>
        <p:txBody>
          <a:bodyPr wrap="square" lIns="0" tIns="0" rIns="0" bIns="0" rtlCol="0" anchor="t"/>
          <a:lstStyle/>
          <a:p>
            <a:pPr indent="0" marL="0">
              <a:buNone/>
            </a:pPr>
            <a:r>
              <a:rPr lang="en-US" sz="3600" b="1" dirty="0">
                <a:solidFill>
                  <a:srgbClr val="F6F3EF"/>
                </a:solidFill>
                <a:latin typeface="Arial" pitchFamily="34" charset="0"/>
                <a:ea typeface="Arial" pitchFamily="34" charset="-122"/>
                <a:cs typeface="Arial" pitchFamily="34" charset="-120"/>
              </a:rPr>
              <a:t>4</a:t>
            </a:r>
            <a:endParaRPr lang="en-US" sz="3600" dirty="0"/>
          </a:p>
        </p:txBody>
      </p:sp>
      <p:sp>
        <p:nvSpPr>
          <p:cNvPr id="16" name="Text 13"/>
          <p:cNvSpPr txBox="1"/>
          <p:nvPr/>
        </p:nvSpPr>
        <p:spPr>
          <a:xfrm>
            <a:off x="8890000" y="4889500"/>
            <a:ext cx="2489200" cy="381000"/>
          </a:xfrm>
          <a:prstGeom prst="rect">
            <a:avLst/>
          </a:prstGeom>
          <a:noFill/>
          <a:ln/>
        </p:spPr>
        <p:txBody>
          <a:bodyPr wrap="square" lIns="0" tIns="0" rIns="0" bIns="0" rtlCol="0" anchor="t"/>
          <a:lstStyle/>
          <a:p>
            <a:pPr indent="0" marL="0">
              <a:buNone/>
            </a:pPr>
            <a:r>
              <a:rPr lang="en-US" sz="1400" dirty="0">
                <a:solidFill>
                  <a:srgbClr val="C9C4BD"/>
                </a:solidFill>
                <a:latin typeface="Arial" pitchFamily="34" charset="0"/>
                <a:ea typeface="Arial" pitchFamily="34" charset="-122"/>
                <a:cs typeface="Arial" pitchFamily="34" charset="-120"/>
              </a:rPr>
              <a:t>Mobile networks on USSD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 Rainbow — App Walkthrough</dc:title>
  <dc:subject>PptxGenJS Presentation</dc:subject>
  <dc:creator>PptxGenJS</dc:creator>
  <cp:lastModifiedBy>PptxGenJS</cp:lastModifiedBy>
  <cp:revision>1</cp:revision>
  <dcterms:created xsi:type="dcterms:W3CDTF">2026-10-11T08:31:33Z</dcterms:created>
  <dcterms:modified xsi:type="dcterms:W3CDTF">2026-10-11T08:31:33Z</dcterms:modified>
</cp:coreProperties>
</file>